
<file path=[Content_Types].xml><?xml version="1.0" encoding="utf-8"?>
<Types xmlns="http://schemas.openxmlformats.org/package/2006/content-types">
  <Default Extension="mov" ContentType="video/quicktime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9" r:id="rId4"/>
    <p:sldId id="288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82" r:id="rId13"/>
    <p:sldId id="283" r:id="rId14"/>
    <p:sldId id="284" r:id="rId15"/>
    <p:sldId id="268" r:id="rId16"/>
    <p:sldId id="269" r:id="rId17"/>
    <p:sldId id="287" r:id="rId18"/>
    <p:sldId id="270" r:id="rId19"/>
    <p:sldId id="271" r:id="rId20"/>
    <p:sldId id="272" r:id="rId21"/>
    <p:sldId id="285" r:id="rId22"/>
    <p:sldId id="286" r:id="rId23"/>
    <p:sldId id="273" r:id="rId24"/>
    <p:sldId id="274" r:id="rId25"/>
    <p:sldId id="275" r:id="rId26"/>
    <p:sldId id="289" r:id="rId27"/>
    <p:sldId id="280" r:id="rId28"/>
    <p:sldId id="281" r:id="rId2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8176"/>
    <a:srgbClr val="F7B959"/>
    <a:srgbClr val="276BEB"/>
    <a:srgbClr val="08AB47"/>
    <a:srgbClr val="BB5413"/>
    <a:srgbClr val="F27D06"/>
    <a:srgbClr val="6CDC9C"/>
    <a:srgbClr val="70B6E6"/>
    <a:srgbClr val="1A4D8C"/>
    <a:srgbClr val="5482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533"/>
    <p:restoredTop sz="94610"/>
  </p:normalViewPr>
  <p:slideViewPr>
    <p:cSldViewPr snapToGrid="0" snapToObjects="1">
      <p:cViewPr>
        <p:scale>
          <a:sx n="170" d="100"/>
          <a:sy n="170" d="100"/>
        </p:scale>
        <p:origin x="2648" y="9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899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B1661D-291E-F0BC-04B4-008347C0B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01C98A-D6B9-B72E-21C5-6A879AB58C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67E794-A319-1BF1-813F-39B7EB5DA3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3C7FBE-104F-6CEA-C307-A8452C595B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2527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52797D-A0BC-9F35-C547-C8B44C346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F0383B-C13A-029A-5D09-40B71DDC1E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474546-CA67-0698-A902-643CDB396C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D0E6FB-3D6F-4B2E-833B-5D6E4984A3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7313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0F901-B1A2-6089-4C8A-CBCB6CE34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18504B-011F-6735-1F4A-E6656233CC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E91631-71D7-2138-049B-546E7C6CED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B920AD-E55A-95A1-DE8B-F44ED5F37B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4868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B9F88-9EAF-AEE7-759A-B5C68F55F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1FFDF5-C505-DE79-5165-0C7236C81A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20FE97-243A-E253-6229-4A49124D44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AC2C3D-B699-6E23-FEA3-D8371D1B86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4799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A13B3-3BBD-D4A3-67C7-742733F90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698E6B-7A5F-87F4-B6C2-FB9981367C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EEDA4A-2ED4-253E-D92D-A35D30C5A7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659D4F-E0F2-B5DD-9EB8-FE4C08E3AB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7607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9E0BD-77EB-6923-2D6C-DB7F33A0E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22EA19-8E77-899E-10A2-15D81B43DD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9163A0-0701-91D7-E6C2-FA66A4B80E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8D0EF0-4CE5-0C90-31AA-E4CF404131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28986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EA9B38A-258C-5279-DFC6-36157E0AC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</a:p>
        </p:txBody>
      </p:sp>
    </p:spTree>
    <p:extLst>
      <p:ext uri="{BB962C8B-B14F-4D97-AF65-F5344CB8AC3E}">
        <p14:creationId xmlns:p14="http://schemas.microsoft.com/office/powerpoint/2010/main" val="3316818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titolo 5">
            <a:extLst>
              <a:ext uri="{FF2B5EF4-FFF2-40B4-BE49-F238E27FC236}">
                <a16:creationId xmlns:a16="http://schemas.microsoft.com/office/drawing/2014/main" id="{B4584FD4-C58A-6CBE-AA2E-680F16FA1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AB457FB-DC82-7A12-9FC9-DE44FAC77B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6B7280"/>
                </a:solidFill>
              </a:defRPr>
            </a:lvl1pPr>
          </a:lstStyle>
          <a:p>
            <a:fld id="{5401E651-E681-E949-9390-071B10ABE424}" type="slidenum">
              <a:rPr lang="it-IT" smtClean="0"/>
              <a:pPr/>
              <a:t>‹N›</a:t>
            </a:fld>
            <a:endParaRPr lang="it-IT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1A4D8C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ov"/><Relationship Id="rId1" Type="http://schemas.microsoft.com/office/2007/relationships/media" Target="../media/media2.mov"/><Relationship Id="rId4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iencedirect.com/science/article/abs/pii/S0140366426000046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github.com/AntonioPagnotta/iot-graph-construction-ablation" TargetMode="External"/><Relationship Id="rId4" Type="http://schemas.openxmlformats.org/officeDocument/2006/relationships/hyperlink" Target="https://github.com/francescolp23/iot-graph-ablation-projec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11600025" y="966920"/>
            <a:ext cx="35371" cy="35371"/>
          </a:xfrm>
          <a:prstGeom prst="ellipse">
            <a:avLst/>
          </a:prstGeom>
          <a:solidFill>
            <a:srgbClr val="58A6FF">
              <a:alpha val="65000"/>
            </a:srgbClr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4" name="Shape 2"/>
          <p:cNvSpPr/>
          <p:nvPr/>
        </p:nvSpPr>
        <p:spPr>
          <a:xfrm>
            <a:off x="9304098" y="1636948"/>
            <a:ext cx="30834" cy="30834"/>
          </a:xfrm>
          <a:prstGeom prst="ellipse">
            <a:avLst/>
          </a:prstGeom>
          <a:solidFill>
            <a:srgbClr val="3FB950">
              <a:alpha val="65000"/>
            </a:srgbClr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5" name="Shape 3"/>
          <p:cNvSpPr/>
          <p:nvPr/>
        </p:nvSpPr>
        <p:spPr>
          <a:xfrm>
            <a:off x="9697904" y="1917295"/>
            <a:ext cx="65732" cy="65732"/>
          </a:xfrm>
          <a:prstGeom prst="ellipse">
            <a:avLst/>
          </a:prstGeom>
          <a:solidFill>
            <a:srgbClr val="8B949E">
              <a:alpha val="65000"/>
            </a:srgbClr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6" name="Shape 4"/>
          <p:cNvSpPr/>
          <p:nvPr/>
        </p:nvSpPr>
        <p:spPr>
          <a:xfrm>
            <a:off x="8398720" y="470798"/>
            <a:ext cx="29525" cy="29525"/>
          </a:xfrm>
          <a:prstGeom prst="ellipse">
            <a:avLst/>
          </a:prstGeom>
          <a:solidFill>
            <a:srgbClr val="8B949E">
              <a:alpha val="65000"/>
            </a:srgbClr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7" name="Shape 5"/>
          <p:cNvSpPr/>
          <p:nvPr/>
        </p:nvSpPr>
        <p:spPr>
          <a:xfrm>
            <a:off x="11461082" y="680471"/>
            <a:ext cx="79249" cy="79249"/>
          </a:xfrm>
          <a:prstGeom prst="ellipse">
            <a:avLst/>
          </a:prstGeom>
          <a:solidFill>
            <a:srgbClr val="58A6FF">
              <a:alpha val="65000"/>
            </a:srgbClr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8" name="Shape 6"/>
          <p:cNvSpPr/>
          <p:nvPr/>
        </p:nvSpPr>
        <p:spPr>
          <a:xfrm>
            <a:off x="11838630" y="487986"/>
            <a:ext cx="40392" cy="40392"/>
          </a:xfrm>
          <a:prstGeom prst="ellipse">
            <a:avLst/>
          </a:prstGeom>
          <a:solidFill>
            <a:srgbClr val="3FB950">
              <a:alpha val="65000"/>
            </a:srgbClr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9" name="Shape 7"/>
          <p:cNvSpPr/>
          <p:nvPr/>
        </p:nvSpPr>
        <p:spPr>
          <a:xfrm>
            <a:off x="8109844" y="2430667"/>
            <a:ext cx="30100" cy="30100"/>
          </a:xfrm>
          <a:prstGeom prst="ellipse">
            <a:avLst/>
          </a:prstGeom>
          <a:solidFill>
            <a:srgbClr val="8B949E">
              <a:alpha val="65000"/>
            </a:srgbClr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10" name="Shape 8"/>
          <p:cNvSpPr/>
          <p:nvPr/>
        </p:nvSpPr>
        <p:spPr>
          <a:xfrm>
            <a:off x="8312423" y="2264055"/>
            <a:ext cx="70602" cy="70602"/>
          </a:xfrm>
          <a:prstGeom prst="ellipse">
            <a:avLst/>
          </a:prstGeom>
          <a:solidFill>
            <a:srgbClr val="8B949E">
              <a:alpha val="65000"/>
            </a:srgbClr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11" name="Shape 9"/>
          <p:cNvSpPr/>
          <p:nvPr/>
        </p:nvSpPr>
        <p:spPr>
          <a:xfrm>
            <a:off x="11453217" y="908099"/>
            <a:ext cx="30341" cy="30341"/>
          </a:xfrm>
          <a:prstGeom prst="ellipse">
            <a:avLst/>
          </a:prstGeom>
          <a:solidFill>
            <a:srgbClr val="58A6FF">
              <a:alpha val="65000"/>
            </a:srgbClr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12" name="Shape 10"/>
          <p:cNvSpPr/>
          <p:nvPr/>
        </p:nvSpPr>
        <p:spPr>
          <a:xfrm>
            <a:off x="10768201" y="1895499"/>
            <a:ext cx="67111" cy="67111"/>
          </a:xfrm>
          <a:prstGeom prst="ellipse">
            <a:avLst/>
          </a:prstGeom>
          <a:solidFill>
            <a:srgbClr val="3FB950">
              <a:alpha val="65000"/>
            </a:srgbClr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13" name="Shape 11"/>
          <p:cNvSpPr/>
          <p:nvPr/>
        </p:nvSpPr>
        <p:spPr>
          <a:xfrm>
            <a:off x="10677802" y="1499303"/>
            <a:ext cx="49618" cy="49618"/>
          </a:xfrm>
          <a:prstGeom prst="ellipse">
            <a:avLst/>
          </a:prstGeom>
          <a:solidFill>
            <a:srgbClr val="8B949E">
              <a:alpha val="65000"/>
            </a:srgbClr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14" name="Shape 12"/>
          <p:cNvSpPr/>
          <p:nvPr/>
        </p:nvSpPr>
        <p:spPr>
          <a:xfrm>
            <a:off x="8200337" y="710408"/>
            <a:ext cx="41604" cy="41604"/>
          </a:xfrm>
          <a:prstGeom prst="ellipse">
            <a:avLst/>
          </a:prstGeom>
          <a:solidFill>
            <a:srgbClr val="8B949E">
              <a:alpha val="65000"/>
            </a:srgbClr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15" name="Shape 13"/>
          <p:cNvSpPr/>
          <p:nvPr/>
        </p:nvSpPr>
        <p:spPr>
          <a:xfrm>
            <a:off x="11582387" y="1191469"/>
            <a:ext cx="60318" cy="60318"/>
          </a:xfrm>
          <a:prstGeom prst="ellipse">
            <a:avLst/>
          </a:prstGeom>
          <a:solidFill>
            <a:srgbClr val="58A6FF">
              <a:alpha val="65000"/>
            </a:srgbClr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16" name="Shape 14"/>
          <p:cNvSpPr/>
          <p:nvPr/>
        </p:nvSpPr>
        <p:spPr>
          <a:xfrm>
            <a:off x="9848348" y="1342869"/>
            <a:ext cx="60368" cy="60368"/>
          </a:xfrm>
          <a:prstGeom prst="ellipse">
            <a:avLst/>
          </a:prstGeom>
          <a:solidFill>
            <a:srgbClr val="3FB950">
              <a:alpha val="65000"/>
            </a:srgbClr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17" name="Shape 15"/>
          <p:cNvSpPr/>
          <p:nvPr/>
        </p:nvSpPr>
        <p:spPr>
          <a:xfrm>
            <a:off x="10197356" y="1701284"/>
            <a:ext cx="78936" cy="78936"/>
          </a:xfrm>
          <a:prstGeom prst="ellipse">
            <a:avLst/>
          </a:prstGeom>
          <a:solidFill>
            <a:srgbClr val="8B949E">
              <a:alpha val="65000"/>
            </a:srgbClr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18" name="Shape 16"/>
          <p:cNvSpPr/>
          <p:nvPr/>
        </p:nvSpPr>
        <p:spPr>
          <a:xfrm>
            <a:off x="11604758" y="2336319"/>
            <a:ext cx="61933" cy="61933"/>
          </a:xfrm>
          <a:prstGeom prst="ellipse">
            <a:avLst/>
          </a:prstGeom>
          <a:solidFill>
            <a:srgbClr val="8B949E">
              <a:alpha val="65000"/>
            </a:srgbClr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19" name="Shape 17"/>
          <p:cNvSpPr/>
          <p:nvPr/>
        </p:nvSpPr>
        <p:spPr>
          <a:xfrm>
            <a:off x="10891236" y="393602"/>
            <a:ext cx="72042" cy="72042"/>
          </a:xfrm>
          <a:prstGeom prst="ellipse">
            <a:avLst/>
          </a:prstGeom>
          <a:solidFill>
            <a:srgbClr val="58A6FF">
              <a:alpha val="65000"/>
            </a:srgbClr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20" name="Shape 18"/>
          <p:cNvSpPr/>
          <p:nvPr/>
        </p:nvSpPr>
        <p:spPr>
          <a:xfrm>
            <a:off x="10296398" y="1544625"/>
            <a:ext cx="46045" cy="46045"/>
          </a:xfrm>
          <a:prstGeom prst="ellipse">
            <a:avLst/>
          </a:prstGeom>
          <a:solidFill>
            <a:srgbClr val="3FB950">
              <a:alpha val="65000"/>
            </a:srgbClr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21" name="Shape 19"/>
          <p:cNvSpPr/>
          <p:nvPr/>
        </p:nvSpPr>
        <p:spPr>
          <a:xfrm>
            <a:off x="10412094" y="2255480"/>
            <a:ext cx="29167" cy="29167"/>
          </a:xfrm>
          <a:prstGeom prst="ellipse">
            <a:avLst/>
          </a:prstGeom>
          <a:solidFill>
            <a:srgbClr val="8B949E">
              <a:alpha val="65000"/>
            </a:srgbClr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22" name="Shape 20"/>
          <p:cNvSpPr/>
          <p:nvPr/>
        </p:nvSpPr>
        <p:spPr>
          <a:xfrm>
            <a:off x="8132782" y="1376304"/>
            <a:ext cx="79308" cy="79308"/>
          </a:xfrm>
          <a:prstGeom prst="ellipse">
            <a:avLst/>
          </a:prstGeom>
          <a:solidFill>
            <a:srgbClr val="8B949E">
              <a:alpha val="65000"/>
            </a:srgbClr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23" name="Shape 21"/>
          <p:cNvSpPr/>
          <p:nvPr/>
        </p:nvSpPr>
        <p:spPr>
          <a:xfrm>
            <a:off x="11201282" y="359008"/>
            <a:ext cx="57980" cy="57980"/>
          </a:xfrm>
          <a:prstGeom prst="ellipse">
            <a:avLst/>
          </a:prstGeom>
          <a:solidFill>
            <a:srgbClr val="58A6FF">
              <a:alpha val="65000"/>
            </a:srgbClr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24" name="Shape 22"/>
          <p:cNvSpPr/>
          <p:nvPr/>
        </p:nvSpPr>
        <p:spPr>
          <a:xfrm>
            <a:off x="10891931" y="1502109"/>
            <a:ext cx="34201" cy="34201"/>
          </a:xfrm>
          <a:prstGeom prst="ellipse">
            <a:avLst/>
          </a:prstGeom>
          <a:solidFill>
            <a:srgbClr val="3FB950">
              <a:alpha val="65000"/>
            </a:srgbClr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25" name="Shape 23"/>
          <p:cNvSpPr/>
          <p:nvPr/>
        </p:nvSpPr>
        <p:spPr>
          <a:xfrm>
            <a:off x="9371958" y="2572980"/>
            <a:ext cx="36917" cy="36917"/>
          </a:xfrm>
          <a:prstGeom prst="ellipse">
            <a:avLst/>
          </a:prstGeom>
          <a:solidFill>
            <a:srgbClr val="8B949E">
              <a:alpha val="65000"/>
            </a:srgbClr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26" name="Shape 24"/>
          <p:cNvSpPr/>
          <p:nvPr/>
        </p:nvSpPr>
        <p:spPr>
          <a:xfrm>
            <a:off x="7976344" y="417475"/>
            <a:ext cx="70146" cy="70146"/>
          </a:xfrm>
          <a:prstGeom prst="ellipse">
            <a:avLst/>
          </a:prstGeom>
          <a:solidFill>
            <a:srgbClr val="8B949E">
              <a:alpha val="65000"/>
            </a:srgbClr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27" name="Shape 25"/>
          <p:cNvSpPr/>
          <p:nvPr/>
        </p:nvSpPr>
        <p:spPr>
          <a:xfrm>
            <a:off x="11785338" y="1282274"/>
            <a:ext cx="29255" cy="29255"/>
          </a:xfrm>
          <a:prstGeom prst="ellipse">
            <a:avLst/>
          </a:prstGeom>
          <a:solidFill>
            <a:srgbClr val="58A6FF">
              <a:alpha val="65000"/>
            </a:srgbClr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28" name="Shape 26"/>
          <p:cNvSpPr/>
          <p:nvPr/>
        </p:nvSpPr>
        <p:spPr>
          <a:xfrm>
            <a:off x="9864580" y="1725599"/>
            <a:ext cx="44887" cy="44887"/>
          </a:xfrm>
          <a:prstGeom prst="ellipse">
            <a:avLst/>
          </a:prstGeom>
          <a:solidFill>
            <a:srgbClr val="3FB950">
              <a:alpha val="65000"/>
            </a:srgbClr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29" name="Text 27"/>
          <p:cNvSpPr/>
          <p:nvPr/>
        </p:nvSpPr>
        <p:spPr>
          <a:xfrm>
            <a:off x="640080" y="2148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400" b="1" kern="0" spc="300" dirty="0">
                <a:solidFill>
                  <a:srgbClr val="58A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 ENVIRONMENTS · PROJECT WORK</a:t>
            </a:r>
            <a:endParaRPr lang="en-GB" sz="1400" dirty="0"/>
          </a:p>
        </p:txBody>
      </p:sp>
      <p:sp>
        <p:nvSpPr>
          <p:cNvPr id="30" name="Text 28"/>
          <p:cNvSpPr/>
          <p:nvPr/>
        </p:nvSpPr>
        <p:spPr>
          <a:xfrm>
            <a:off x="640080" y="2606040"/>
            <a:ext cx="10515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GB" sz="6000" b="1" dirty="0">
                <a:solidFill>
                  <a:srgbClr val="F0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Context-Aware IoT</a:t>
            </a:r>
            <a:endParaRPr lang="en-GB" sz="6000" dirty="0"/>
          </a:p>
          <a:p>
            <a:pPr marL="0" indent="0">
              <a:lnSpc>
                <a:spcPct val="98000"/>
              </a:lnSpc>
              <a:buNone/>
            </a:pPr>
            <a:r>
              <a:rPr lang="en-GB" sz="6000" b="1" dirty="0">
                <a:solidFill>
                  <a:srgbClr val="F0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Anomaly Detection</a:t>
            </a:r>
            <a:endParaRPr lang="en-GB" sz="6000" dirty="0"/>
          </a:p>
        </p:txBody>
      </p:sp>
      <p:sp>
        <p:nvSpPr>
          <p:cNvPr id="31" name="Text 29"/>
          <p:cNvSpPr/>
          <p:nvPr/>
        </p:nvSpPr>
        <p:spPr>
          <a:xfrm>
            <a:off x="669020" y="442717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2400" b="1" dirty="0">
                <a:solidFill>
                  <a:srgbClr val="8B94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Ablation Study on Graph Construction</a:t>
            </a:r>
            <a:endParaRPr lang="en-GB" sz="2400" b="1" dirty="0"/>
          </a:p>
        </p:txBody>
      </p:sp>
      <p:sp>
        <p:nvSpPr>
          <p:cNvPr id="32" name="Shape 30"/>
          <p:cNvSpPr/>
          <p:nvPr/>
        </p:nvSpPr>
        <p:spPr>
          <a:xfrm>
            <a:off x="640080" y="5074920"/>
            <a:ext cx="2926080" cy="0"/>
          </a:xfrm>
          <a:prstGeom prst="line">
            <a:avLst/>
          </a:prstGeom>
          <a:noFill/>
          <a:ln w="254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33" name="Text 31"/>
          <p:cNvSpPr/>
          <p:nvPr/>
        </p:nvSpPr>
        <p:spPr>
          <a:xfrm>
            <a:off x="640080" y="52578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500" dirty="0">
                <a:solidFill>
                  <a:srgbClr val="F0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Antonio Pagnotta   ·   Francesco La Piana   ·   Paolo </a:t>
            </a:r>
            <a:r>
              <a:rPr lang="en-GB" sz="1500" dirty="0" err="1">
                <a:solidFill>
                  <a:srgbClr val="F0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Cencia</a:t>
            </a:r>
            <a:endParaRPr lang="en-GB" sz="1500" dirty="0"/>
          </a:p>
        </p:txBody>
      </p:sp>
      <p:sp>
        <p:nvSpPr>
          <p:cNvPr id="34" name="Text 32"/>
          <p:cNvSpPr/>
          <p:nvPr/>
        </p:nvSpPr>
        <p:spPr>
          <a:xfrm>
            <a:off x="640080" y="56692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200" i="1" dirty="0">
                <a:solidFill>
                  <a:srgbClr val="8B94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Based on Stodt, Reich &amp; </a:t>
            </a:r>
            <a:r>
              <a:rPr lang="en-GB" sz="1200" i="1" dirty="0" err="1">
                <a:solidFill>
                  <a:srgbClr val="8B94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Theoleyre</a:t>
            </a:r>
            <a:r>
              <a:rPr lang="en-GB" sz="1200" i="1" dirty="0">
                <a:solidFill>
                  <a:srgbClr val="8B94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 Computer Communications (2026)</a:t>
            </a:r>
            <a:endParaRPr lang="en-GB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200" b="1" kern="0" spc="200" dirty="0">
                <a:solidFill>
                  <a:srgbClr val="58A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CHAPTER 1 · CONTEXT &amp; STATE OF THE ART</a:t>
            </a:r>
            <a:endParaRPr lang="en-GB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3200" b="1" dirty="0">
                <a:solidFill>
                  <a:srgbClr val="1A4D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Paper</a:t>
            </a:r>
            <a:endParaRPr lang="en-GB" sz="3200" dirty="0">
              <a:solidFill>
                <a:srgbClr val="1A4D8C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845426"/>
            <a:ext cx="5212080" cy="3568611"/>
          </a:xfrm>
          <a:prstGeom prst="roundRect">
            <a:avLst>
              <a:gd name="adj" fmla="val 2128"/>
            </a:avLst>
          </a:prstGeom>
          <a:solidFill>
            <a:schemeClr val="bg1"/>
          </a:solidFill>
          <a:ln w="19050">
            <a:solidFill>
              <a:srgbClr val="58A7FF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5" name="Text 3"/>
          <p:cNvSpPr/>
          <p:nvPr/>
        </p:nvSpPr>
        <p:spPr>
          <a:xfrm>
            <a:off x="1005840" y="19202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b="1" dirty="0">
                <a:solidFill>
                  <a:srgbClr val="58A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Problem</a:t>
            </a:r>
            <a:endParaRPr lang="en-GB" dirty="0"/>
          </a:p>
        </p:txBody>
      </p:sp>
      <p:sp>
        <p:nvSpPr>
          <p:cNvPr id="6" name="Text 4"/>
          <p:cNvSpPr/>
          <p:nvPr/>
        </p:nvSpPr>
        <p:spPr>
          <a:xfrm>
            <a:off x="1005840" y="2468880"/>
            <a:ext cx="4585815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GB" sz="1400" dirty="0">
                <a:solidFill>
                  <a:srgbClr val="1F2937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IoT networks are exposed to heterogeneous, distributed traffic and a broad spectrum of threats.</a:t>
            </a:r>
            <a:endParaRPr lang="en-GB" sz="1400" dirty="0">
              <a:solidFill>
                <a:srgbClr val="1F2937"/>
              </a:solidFill>
              <a:latin typeface="Aptos" panose="020B0004020202020204" pitchFamily="34" charset="0"/>
            </a:endParaRPr>
          </a:p>
          <a:p>
            <a:pPr marL="177800" indent="-1778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GB" sz="1400" dirty="0">
                <a:solidFill>
                  <a:srgbClr val="1F2937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Attacks come both from outside (scans, malware) and inside (compromised devices).</a:t>
            </a:r>
            <a:endParaRPr lang="en-GB" sz="1400" dirty="0">
              <a:solidFill>
                <a:srgbClr val="1F2937"/>
              </a:solidFill>
              <a:latin typeface="Aptos" panose="020B0004020202020204" pitchFamily="34" charset="0"/>
            </a:endParaRPr>
          </a:p>
          <a:p>
            <a:pPr marL="177800" indent="-1778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GB" sz="1400" dirty="0">
                <a:solidFill>
                  <a:srgbClr val="1F2937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Traditional detectors ignore context: time, device role, expected behavior.</a:t>
            </a:r>
            <a:endParaRPr lang="en-GB" sz="1400" dirty="0">
              <a:solidFill>
                <a:srgbClr val="1F2937"/>
              </a:solidFill>
              <a:latin typeface="Aptos" panose="020B0004020202020204" pitchFamily="34" charset="0"/>
            </a:endParaRPr>
          </a:p>
          <a:p>
            <a:pPr marL="177800" indent="-1778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GB" sz="1400" b="1" dirty="0">
                <a:solidFill>
                  <a:srgbClr val="58A6FF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Valid traffic at the wrong time can itself be the anomaly.</a:t>
            </a:r>
            <a:endParaRPr lang="en-GB" sz="1400" dirty="0">
              <a:latin typeface="Aptos" panose="020B00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339841" y="1845426"/>
            <a:ext cx="5211773" cy="3568611"/>
          </a:xfrm>
          <a:prstGeom prst="roundRect">
            <a:avLst>
              <a:gd name="adj" fmla="val 2128"/>
            </a:avLst>
          </a:prstGeom>
          <a:solidFill>
            <a:schemeClr val="bg1"/>
          </a:solidFill>
          <a:ln w="1905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8" name="Text 6"/>
          <p:cNvSpPr/>
          <p:nvPr/>
        </p:nvSpPr>
        <p:spPr>
          <a:xfrm>
            <a:off x="6766560" y="19202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GB" b="1" dirty="0">
                <a:solidFill>
                  <a:srgbClr val="F0883E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The Gap - </a:t>
            </a:r>
            <a:r>
              <a:rPr lang="en-GB" b="1" dirty="0">
                <a:solidFill>
                  <a:srgbClr val="F0883E"/>
                </a:solidFill>
                <a:latin typeface="Aptos" panose="020B0004020202020204" pitchFamily="34" charset="0"/>
              </a:rPr>
              <a:t>No method combines all three:</a:t>
            </a:r>
          </a:p>
        </p:txBody>
      </p:sp>
      <p:sp>
        <p:nvSpPr>
          <p:cNvPr id="9" name="Text 7"/>
          <p:cNvSpPr/>
          <p:nvPr/>
        </p:nvSpPr>
        <p:spPr>
          <a:xfrm>
            <a:off x="6766560" y="2468880"/>
            <a:ext cx="44805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GB" sz="1400" b="1" dirty="0">
                <a:solidFill>
                  <a:srgbClr val="1F2937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Context-awareness</a:t>
            </a:r>
            <a:endParaRPr lang="en-GB" sz="1400" dirty="0">
              <a:solidFill>
                <a:srgbClr val="1F2937"/>
              </a:solidFill>
              <a:latin typeface="Aptos" panose="020B0004020202020204" pitchFamily="34" charset="0"/>
            </a:endParaRPr>
          </a:p>
          <a:p>
            <a:pPr marL="177800" indent="-1778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GB" sz="1400" b="1" dirty="0">
                <a:solidFill>
                  <a:srgbClr val="1F2937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Graph </a:t>
            </a:r>
            <a:r>
              <a:rPr lang="en-GB" sz="1400" b="1" dirty="0" err="1">
                <a:solidFill>
                  <a:srgbClr val="1F2937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modeling</a:t>
            </a:r>
            <a:r>
              <a:rPr lang="en-GB" sz="1400" b="1" dirty="0">
                <a:solidFill>
                  <a:srgbClr val="1F2937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 of device relationships</a:t>
            </a:r>
            <a:endParaRPr lang="en-GB" sz="1400" dirty="0">
              <a:solidFill>
                <a:srgbClr val="1F2937"/>
              </a:solidFill>
              <a:latin typeface="Aptos" panose="020B0004020202020204" pitchFamily="34" charset="0"/>
            </a:endParaRPr>
          </a:p>
          <a:p>
            <a:pPr marL="177800" indent="-1778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GB" sz="1400" b="1" dirty="0">
                <a:solidFill>
                  <a:srgbClr val="1F2937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Real-time capability</a:t>
            </a:r>
            <a:endParaRPr lang="en-GB" sz="1400" dirty="0">
              <a:solidFill>
                <a:srgbClr val="1F2937"/>
              </a:solidFill>
              <a:latin typeface="Aptos" panose="020B0004020202020204" pitchFamily="34" charset="0"/>
            </a:endParaRPr>
          </a:p>
          <a:p>
            <a:pPr marL="177800" indent="-1778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GB" sz="1400" b="1" dirty="0">
                <a:solidFill>
                  <a:srgbClr val="F0883E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Need a framework that models relations, context and dynamic behavior together.</a:t>
            </a:r>
            <a:endParaRPr lang="en-GB" sz="1400" dirty="0">
              <a:latin typeface="Aptos" panose="020B00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0" y="6473952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GB" sz="900" dirty="0">
                <a:solidFill>
                  <a:srgbClr val="8B94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 Environments</a:t>
            </a:r>
            <a:endParaRPr lang="en-GB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GB" sz="900" dirty="0">
                <a:solidFill>
                  <a:srgbClr val="8B94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Context-Aware IoT Anomaly Detection</a:t>
            </a:r>
            <a:endParaRPr lang="en-GB" sz="900" dirty="0"/>
          </a:p>
        </p:txBody>
      </p:sp>
      <p:sp>
        <p:nvSpPr>
          <p:cNvPr id="14" name="Text 18">
            <a:extLst>
              <a:ext uri="{FF2B5EF4-FFF2-40B4-BE49-F238E27FC236}">
                <a16:creationId xmlns:a16="http://schemas.microsoft.com/office/drawing/2014/main" id="{3B86E976-F0DA-5973-C420-E5ACFEFD292B}"/>
              </a:ext>
            </a:extLst>
          </p:cNvPr>
          <p:cNvSpPr/>
          <p:nvPr/>
        </p:nvSpPr>
        <p:spPr>
          <a:xfrm>
            <a:off x="9670667" y="6473952"/>
            <a:ext cx="18809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GB" sz="900" dirty="0">
                <a:solidFill>
                  <a:srgbClr val="8B949E"/>
                </a:solidFill>
                <a:latin typeface="Aptos" pitchFamily="34" charset="0"/>
              </a:rPr>
              <a:t>2</a:t>
            </a:r>
            <a:endParaRPr lang="en-GB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200" b="1" kern="0" spc="200" dirty="0">
                <a:solidFill>
                  <a:srgbClr val="58A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CHAPTER 1 · STODT, REICH &amp; THEOLEYRE (2026)</a:t>
            </a:r>
            <a:endParaRPr lang="en-GB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3200" b="1" dirty="0">
                <a:solidFill>
                  <a:srgbClr val="1A4D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Paper's Solution</a:t>
            </a:r>
            <a:endParaRPr lang="en-GB" sz="3200" dirty="0">
              <a:solidFill>
                <a:srgbClr val="1A4D8C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4184385" y="4783113"/>
            <a:ext cx="3823230" cy="1066982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 w="19050">
            <a:solidFill>
              <a:schemeClr val="accent4"/>
            </a:solidFill>
            <a:prstDash val="solid"/>
          </a:ln>
        </p:spPr>
        <p:txBody>
          <a:bodyPr/>
          <a:lstStyle/>
          <a:p>
            <a:pPr algn="ctr"/>
            <a:endParaRPr lang="en-GB" dirty="0"/>
          </a:p>
        </p:txBody>
      </p:sp>
      <p:sp>
        <p:nvSpPr>
          <p:cNvPr id="6" name="Text 4"/>
          <p:cNvSpPr/>
          <p:nvPr/>
        </p:nvSpPr>
        <p:spPr>
          <a:xfrm>
            <a:off x="4184386" y="4868851"/>
            <a:ext cx="3823228" cy="3270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sz="1600" b="1" dirty="0">
                <a:solidFill>
                  <a:schemeClr val="bg2">
                    <a:lumMod val="10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Claimed result</a:t>
            </a:r>
            <a:endParaRPr lang="en-GB" sz="1600" b="1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4184385" y="5195932"/>
            <a:ext cx="3823230" cy="6541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sz="3000" b="1" dirty="0">
                <a:solidFill>
                  <a:schemeClr val="accent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AUC ≈ 99%</a:t>
            </a:r>
            <a:r>
              <a:rPr lang="en-GB" sz="1600" dirty="0">
                <a:solidFill>
                  <a:schemeClr val="accent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</a:t>
            </a:r>
            <a:r>
              <a:rPr lang="en-GB" sz="1600" dirty="0">
                <a:solidFill>
                  <a:schemeClr val="bg2">
                    <a:lumMod val="10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 CIC-</a:t>
            </a:r>
            <a:r>
              <a:rPr lang="en-GB" sz="1600" dirty="0" err="1">
                <a:solidFill>
                  <a:schemeClr val="bg2">
                    <a:lumMod val="10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ToN</a:t>
            </a:r>
            <a:r>
              <a:rPr lang="en-GB" sz="1600" dirty="0">
                <a:solidFill>
                  <a:schemeClr val="bg2">
                    <a:lumMod val="10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-IoT</a:t>
            </a:r>
            <a:endParaRPr lang="en-GB" sz="30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0" name="Text 7"/>
          <p:cNvSpPr/>
          <p:nvPr/>
        </p:nvSpPr>
        <p:spPr>
          <a:xfrm>
            <a:off x="0" y="6473952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GB" sz="900" dirty="0">
                <a:solidFill>
                  <a:srgbClr val="8B94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 Environments</a:t>
            </a:r>
            <a:endParaRPr lang="en-GB" sz="900" dirty="0"/>
          </a:p>
        </p:txBody>
      </p:sp>
      <p:sp>
        <p:nvSpPr>
          <p:cNvPr id="11" name="Text 8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GB" sz="900" dirty="0">
                <a:solidFill>
                  <a:srgbClr val="8B94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Context-Aware IoT Anomaly Detection</a:t>
            </a:r>
            <a:endParaRPr lang="en-GB" sz="900" dirty="0"/>
          </a:p>
        </p:txBody>
      </p:sp>
      <p:sp>
        <p:nvSpPr>
          <p:cNvPr id="101" name="Card1"/>
          <p:cNvSpPr/>
          <p:nvPr/>
        </p:nvSpPr>
        <p:spPr>
          <a:xfrm>
            <a:off x="640080" y="2341264"/>
            <a:ext cx="3502152" cy="2171529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 w="1905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121" name="Num1"/>
          <p:cNvSpPr/>
          <p:nvPr/>
        </p:nvSpPr>
        <p:spPr>
          <a:xfrm>
            <a:off x="2139696" y="2563261"/>
            <a:ext cx="502920" cy="50292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GB" sz="1600" b="1" dirty="0">
                <a:solidFill>
                  <a:srgbClr val="0D1117"/>
                </a:solidFill>
                <a:latin typeface="Aptos"/>
              </a:rPr>
              <a:t>1</a:t>
            </a:r>
          </a:p>
        </p:txBody>
      </p:sp>
      <p:sp>
        <p:nvSpPr>
          <p:cNvPr id="141" name="CTitle1"/>
          <p:cNvSpPr txBox="1"/>
          <p:nvPr/>
        </p:nvSpPr>
        <p:spPr>
          <a:xfrm>
            <a:off x="896112" y="3116473"/>
            <a:ext cx="2990088" cy="38862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lnSpc>
                <a:spcPct val="150000"/>
              </a:lnSpc>
            </a:pPr>
            <a:r>
              <a:rPr lang="en-GB" sz="1700" b="1" dirty="0">
                <a:solidFill>
                  <a:srgbClr val="58A6FF"/>
                </a:solidFill>
                <a:latin typeface="Aptos"/>
              </a:rPr>
              <a:t>Multi-edge graph</a:t>
            </a:r>
          </a:p>
        </p:txBody>
      </p:sp>
      <p:sp>
        <p:nvSpPr>
          <p:cNvPr id="161" name="CBody1"/>
          <p:cNvSpPr txBox="1"/>
          <p:nvPr/>
        </p:nvSpPr>
        <p:spPr>
          <a:xfrm>
            <a:off x="896112" y="3555385"/>
            <a:ext cx="2990088" cy="685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n-GB" sz="1400" dirty="0">
                <a:solidFill>
                  <a:schemeClr val="bg2">
                    <a:lumMod val="10000"/>
                  </a:schemeClr>
                </a:solidFill>
                <a:latin typeface="Aptos"/>
              </a:rPr>
              <a:t>Three edge types per device</a:t>
            </a:r>
          </a:p>
          <a:p>
            <a:pPr algn="ctr"/>
            <a:r>
              <a:rPr lang="en-GB" sz="1400" dirty="0">
                <a:solidFill>
                  <a:schemeClr val="bg2">
                    <a:lumMod val="10000"/>
                  </a:schemeClr>
                </a:solidFill>
                <a:latin typeface="Aptos"/>
              </a:rPr>
              <a:t>pair: comm, context,</a:t>
            </a:r>
          </a:p>
          <a:p>
            <a:pPr algn="ctr"/>
            <a:r>
              <a:rPr lang="en-GB" sz="1400" dirty="0">
                <a:solidFill>
                  <a:schemeClr val="bg2">
                    <a:lumMod val="10000"/>
                  </a:schemeClr>
                </a:solidFill>
                <a:latin typeface="Aptos"/>
              </a:rPr>
              <a:t>knowledge.</a:t>
            </a:r>
          </a:p>
        </p:txBody>
      </p:sp>
      <p:sp>
        <p:nvSpPr>
          <p:cNvPr id="102" name="Card2"/>
          <p:cNvSpPr/>
          <p:nvPr/>
        </p:nvSpPr>
        <p:spPr>
          <a:xfrm>
            <a:off x="4352544" y="2341264"/>
            <a:ext cx="3502152" cy="2171529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 w="1905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122" name="Num2"/>
          <p:cNvSpPr/>
          <p:nvPr/>
        </p:nvSpPr>
        <p:spPr>
          <a:xfrm>
            <a:off x="5844387" y="2563261"/>
            <a:ext cx="502920" cy="502920"/>
          </a:xfrm>
          <a:prstGeom prst="ellipse">
            <a:avLst/>
          </a:prstGeom>
          <a:solidFill>
            <a:srgbClr val="3FB950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GB" sz="1600" b="1" dirty="0">
                <a:solidFill>
                  <a:srgbClr val="0D1117"/>
                </a:solidFill>
                <a:latin typeface="Aptos"/>
              </a:rPr>
              <a:t>2</a:t>
            </a:r>
          </a:p>
        </p:txBody>
      </p:sp>
      <p:sp>
        <p:nvSpPr>
          <p:cNvPr id="142" name="CTitle2"/>
          <p:cNvSpPr txBox="1"/>
          <p:nvPr/>
        </p:nvSpPr>
        <p:spPr>
          <a:xfrm>
            <a:off x="4608576" y="3116473"/>
            <a:ext cx="2990088" cy="38862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lnSpc>
                <a:spcPct val="150000"/>
              </a:lnSpc>
            </a:pPr>
            <a:r>
              <a:rPr lang="en-GB" sz="1700" b="1" dirty="0">
                <a:solidFill>
                  <a:srgbClr val="3FB950"/>
                </a:solidFill>
                <a:latin typeface="Aptos"/>
              </a:rPr>
              <a:t>Community detection</a:t>
            </a:r>
          </a:p>
        </p:txBody>
      </p:sp>
      <p:sp>
        <p:nvSpPr>
          <p:cNvPr id="162" name="CBody2"/>
          <p:cNvSpPr txBox="1"/>
          <p:nvPr/>
        </p:nvSpPr>
        <p:spPr>
          <a:xfrm>
            <a:off x="4608576" y="3555385"/>
            <a:ext cx="2990088" cy="685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n-GB" sz="1400" dirty="0">
                <a:solidFill>
                  <a:schemeClr val="bg2">
                    <a:lumMod val="10000"/>
                  </a:schemeClr>
                </a:solidFill>
                <a:latin typeface="Aptos"/>
              </a:rPr>
              <a:t>LPA groups devices into</a:t>
            </a:r>
          </a:p>
          <a:p>
            <a:pPr algn="ctr"/>
            <a:r>
              <a:rPr lang="en-GB" sz="1400" dirty="0">
                <a:solidFill>
                  <a:schemeClr val="bg2">
                    <a:lumMod val="10000"/>
                  </a:schemeClr>
                </a:solidFill>
                <a:latin typeface="Aptos"/>
              </a:rPr>
              <a:t>functional communities,</a:t>
            </a:r>
          </a:p>
          <a:p>
            <a:pPr algn="ctr"/>
            <a:r>
              <a:rPr lang="en-GB" sz="1400" dirty="0">
                <a:solidFill>
                  <a:schemeClr val="bg2">
                    <a:lumMod val="10000"/>
                  </a:schemeClr>
                </a:solidFill>
                <a:latin typeface="Aptos"/>
              </a:rPr>
              <a:t>added as node labels.</a:t>
            </a:r>
          </a:p>
        </p:txBody>
      </p:sp>
      <p:sp>
        <p:nvSpPr>
          <p:cNvPr id="103" name="Card3"/>
          <p:cNvSpPr/>
          <p:nvPr/>
        </p:nvSpPr>
        <p:spPr>
          <a:xfrm>
            <a:off x="8065008" y="2341264"/>
            <a:ext cx="3502152" cy="2171529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 w="19050">
            <a:solidFill>
              <a:srgbClr val="A371F7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123" name="Num3"/>
          <p:cNvSpPr/>
          <p:nvPr/>
        </p:nvSpPr>
        <p:spPr>
          <a:xfrm>
            <a:off x="9564624" y="2563261"/>
            <a:ext cx="502920" cy="502920"/>
          </a:xfrm>
          <a:prstGeom prst="ellipse">
            <a:avLst/>
          </a:prstGeom>
          <a:solidFill>
            <a:srgbClr val="A371F7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GB" sz="1600" b="1" dirty="0">
                <a:solidFill>
                  <a:srgbClr val="0D1117"/>
                </a:solidFill>
                <a:latin typeface="Aptos"/>
              </a:rPr>
              <a:t>3</a:t>
            </a:r>
          </a:p>
        </p:txBody>
      </p:sp>
      <p:sp>
        <p:nvSpPr>
          <p:cNvPr id="143" name="CTitle3"/>
          <p:cNvSpPr txBox="1"/>
          <p:nvPr/>
        </p:nvSpPr>
        <p:spPr>
          <a:xfrm>
            <a:off x="8321040" y="3116473"/>
            <a:ext cx="2990088" cy="38862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lnSpc>
                <a:spcPct val="150000"/>
              </a:lnSpc>
            </a:pPr>
            <a:r>
              <a:rPr lang="en-GB" sz="1700" b="1" dirty="0">
                <a:solidFill>
                  <a:srgbClr val="A371F7"/>
                </a:solidFill>
                <a:latin typeface="Aptos"/>
              </a:rPr>
              <a:t>GNN detection</a:t>
            </a:r>
          </a:p>
        </p:txBody>
      </p:sp>
      <p:sp>
        <p:nvSpPr>
          <p:cNvPr id="163" name="CBody3"/>
          <p:cNvSpPr txBox="1"/>
          <p:nvPr/>
        </p:nvSpPr>
        <p:spPr>
          <a:xfrm>
            <a:off x="8321040" y="3555385"/>
            <a:ext cx="2990088" cy="685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n-GB" sz="1400" dirty="0">
                <a:solidFill>
                  <a:schemeClr val="bg2">
                    <a:lumMod val="10000"/>
                  </a:schemeClr>
                </a:solidFill>
                <a:latin typeface="Aptos"/>
              </a:rPr>
              <a:t>A HeteroGNN reconstructs</a:t>
            </a:r>
          </a:p>
          <a:p>
            <a:pPr algn="ctr"/>
            <a:r>
              <a:rPr lang="en-GB" sz="1400" dirty="0">
                <a:solidFill>
                  <a:schemeClr val="bg2">
                    <a:lumMod val="10000"/>
                  </a:schemeClr>
                </a:solidFill>
                <a:latin typeface="Aptos"/>
              </a:rPr>
              <a:t>normal behavior and flags</a:t>
            </a:r>
          </a:p>
          <a:p>
            <a:pPr algn="ctr"/>
            <a:r>
              <a:rPr lang="en-GB" sz="1400" dirty="0">
                <a:solidFill>
                  <a:schemeClr val="bg2">
                    <a:lumMod val="10000"/>
                  </a:schemeClr>
                </a:solidFill>
                <a:latin typeface="Aptos"/>
              </a:rPr>
              <a:t>deviating edges.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3B48D3A1-5C1E-50A3-B751-194E308B367D}"/>
              </a:ext>
            </a:extLst>
          </p:cNvPr>
          <p:cNvSpPr txBox="1"/>
          <p:nvPr/>
        </p:nvSpPr>
        <p:spPr>
          <a:xfrm>
            <a:off x="3413663" y="1657604"/>
            <a:ext cx="56475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2">
                    <a:lumMod val="10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Combines three ideas into one pipeline</a:t>
            </a:r>
            <a:endParaRPr lang="en-GB" sz="2400" b="1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6" name="Text 18">
            <a:extLst>
              <a:ext uri="{FF2B5EF4-FFF2-40B4-BE49-F238E27FC236}">
                <a16:creationId xmlns:a16="http://schemas.microsoft.com/office/drawing/2014/main" id="{5B612FF4-2F30-59F7-FED7-1EE022E11657}"/>
              </a:ext>
            </a:extLst>
          </p:cNvPr>
          <p:cNvSpPr/>
          <p:nvPr/>
        </p:nvSpPr>
        <p:spPr>
          <a:xfrm>
            <a:off x="9670667" y="6473952"/>
            <a:ext cx="18809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GB" sz="900" dirty="0">
                <a:solidFill>
                  <a:srgbClr val="8B949E"/>
                </a:solidFill>
                <a:latin typeface="Aptos" pitchFamily="34" charset="0"/>
              </a:rPr>
              <a:t>3</a:t>
            </a:r>
            <a:endParaRPr lang="en-GB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6FFD29-A507-E360-5166-3D40385ED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ccia destra 20">
            <a:extLst>
              <a:ext uri="{FF2B5EF4-FFF2-40B4-BE49-F238E27FC236}">
                <a16:creationId xmlns:a16="http://schemas.microsoft.com/office/drawing/2014/main" id="{E9EF14EA-9456-0D15-6A46-ED848D78FEEA}"/>
              </a:ext>
            </a:extLst>
          </p:cNvPr>
          <p:cNvSpPr/>
          <p:nvPr/>
        </p:nvSpPr>
        <p:spPr>
          <a:xfrm>
            <a:off x="3181638" y="3032122"/>
            <a:ext cx="238539" cy="262393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3" name="Freccia destra 22">
            <a:extLst>
              <a:ext uri="{FF2B5EF4-FFF2-40B4-BE49-F238E27FC236}">
                <a16:creationId xmlns:a16="http://schemas.microsoft.com/office/drawing/2014/main" id="{F86BF35B-36A2-CDF4-4D6E-2629CEDF3146}"/>
              </a:ext>
            </a:extLst>
          </p:cNvPr>
          <p:cNvSpPr/>
          <p:nvPr/>
        </p:nvSpPr>
        <p:spPr>
          <a:xfrm>
            <a:off x="5961735" y="3032122"/>
            <a:ext cx="238539" cy="262393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5" name="Freccia destra 24">
            <a:extLst>
              <a:ext uri="{FF2B5EF4-FFF2-40B4-BE49-F238E27FC236}">
                <a16:creationId xmlns:a16="http://schemas.microsoft.com/office/drawing/2014/main" id="{238248BD-5195-3CA5-644B-8B41222A0B1F}"/>
              </a:ext>
            </a:extLst>
          </p:cNvPr>
          <p:cNvSpPr/>
          <p:nvPr/>
        </p:nvSpPr>
        <p:spPr>
          <a:xfrm>
            <a:off x="8767194" y="3032122"/>
            <a:ext cx="238539" cy="262393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6B53640E-FD18-24AD-50AC-15D238CA9092}"/>
              </a:ext>
            </a:extLst>
          </p:cNvPr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200" b="1" kern="0" spc="200" dirty="0">
                <a:solidFill>
                  <a:srgbClr val="58A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CHAPTER 2 · THE FRAMEWORK</a:t>
            </a:r>
            <a:endParaRPr lang="en-GB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038EE75-3D04-1ED3-721E-5CBDA85587B5}"/>
              </a:ext>
            </a:extLst>
          </p:cNvPr>
          <p:cNvSpPr/>
          <p:nvPr/>
        </p:nvSpPr>
        <p:spPr>
          <a:xfrm>
            <a:off x="640080" y="658368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3200" b="1" dirty="0">
                <a:solidFill>
                  <a:srgbClr val="1A4D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Pipeline</a:t>
            </a:r>
            <a:endParaRPr lang="en-GB" sz="3200" dirty="0">
              <a:solidFill>
                <a:srgbClr val="1A4D8C"/>
              </a:solidFill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D9FF1A54-D3E1-2F8C-2039-F8F3659C2B25}"/>
              </a:ext>
            </a:extLst>
          </p:cNvPr>
          <p:cNvSpPr/>
          <p:nvPr/>
        </p:nvSpPr>
        <p:spPr>
          <a:xfrm>
            <a:off x="3246120" y="5073750"/>
            <a:ext cx="6174658" cy="622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sz="13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Four sequential stages turn raw network traffic into edge-level anomaly verdicts.</a:t>
            </a:r>
            <a:endParaRPr lang="en-GB" sz="1300" b="1" dirty="0">
              <a:solidFill>
                <a:srgbClr val="1F2937"/>
              </a:solidFill>
            </a:endParaRPr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7B20DD15-BEF4-04B4-FF47-AA4937E134CA}"/>
              </a:ext>
            </a:extLst>
          </p:cNvPr>
          <p:cNvSpPr/>
          <p:nvPr/>
        </p:nvSpPr>
        <p:spPr>
          <a:xfrm>
            <a:off x="0" y="6473952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GB" sz="900" dirty="0">
                <a:solidFill>
                  <a:srgbClr val="8B94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 Environments</a:t>
            </a:r>
            <a:endParaRPr lang="en-GB" sz="9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75E2A0CE-AD0C-2FD4-DA9C-A3E8A0156837}"/>
              </a:ext>
            </a:extLst>
          </p:cNvPr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GB" sz="900" dirty="0">
                <a:solidFill>
                  <a:srgbClr val="8B94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Context-Aware IoT Anomaly Detection</a:t>
            </a:r>
            <a:endParaRPr lang="en-GB" sz="900" dirty="0"/>
          </a:p>
        </p:txBody>
      </p:sp>
      <p:sp>
        <p:nvSpPr>
          <p:cNvPr id="17" name="Text 18">
            <a:extLst>
              <a:ext uri="{FF2B5EF4-FFF2-40B4-BE49-F238E27FC236}">
                <a16:creationId xmlns:a16="http://schemas.microsoft.com/office/drawing/2014/main" id="{E454DBA8-229E-D41A-EA5D-197E9D99E352}"/>
              </a:ext>
            </a:extLst>
          </p:cNvPr>
          <p:cNvSpPr/>
          <p:nvPr/>
        </p:nvSpPr>
        <p:spPr>
          <a:xfrm>
            <a:off x="9670667" y="6473952"/>
            <a:ext cx="18809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GB" sz="900" dirty="0">
                <a:solidFill>
                  <a:srgbClr val="8B949E"/>
                </a:solidFill>
                <a:latin typeface="Aptos" pitchFamily="34" charset="0"/>
              </a:rPr>
              <a:t>4</a:t>
            </a:r>
            <a:endParaRPr lang="en-GB" sz="900" dirty="0"/>
          </a:p>
        </p:txBody>
      </p:sp>
      <p:sp>
        <p:nvSpPr>
          <p:cNvPr id="16" name="Rettangolo con angoli arrotondati 15">
            <a:extLst>
              <a:ext uri="{FF2B5EF4-FFF2-40B4-BE49-F238E27FC236}">
                <a16:creationId xmlns:a16="http://schemas.microsoft.com/office/drawing/2014/main" id="{DA8D1142-AC74-C74D-95A1-3B7FAFA731A1}"/>
              </a:ext>
            </a:extLst>
          </p:cNvPr>
          <p:cNvSpPr/>
          <p:nvPr/>
        </p:nvSpPr>
        <p:spPr>
          <a:xfrm>
            <a:off x="640080" y="1654825"/>
            <a:ext cx="2545882" cy="2890861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6B72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ln w="0"/>
                <a:solidFill>
                  <a:srgbClr val="1F2937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Traffic</a:t>
            </a:r>
          </a:p>
          <a:p>
            <a:pPr algn="ctr"/>
            <a:r>
              <a:rPr lang="en-GB" sz="2400" dirty="0">
                <a:ln w="0"/>
                <a:solidFill>
                  <a:srgbClr val="1F2937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Capture</a:t>
            </a:r>
          </a:p>
        </p:txBody>
      </p:sp>
      <p:sp>
        <p:nvSpPr>
          <p:cNvPr id="18" name="Rettangolo con angoli arrotondati 17">
            <a:extLst>
              <a:ext uri="{FF2B5EF4-FFF2-40B4-BE49-F238E27FC236}">
                <a16:creationId xmlns:a16="http://schemas.microsoft.com/office/drawing/2014/main" id="{A2CCFD3C-96C5-78BE-7CEA-B785BB565DDA}"/>
              </a:ext>
            </a:extLst>
          </p:cNvPr>
          <p:cNvSpPr/>
          <p:nvPr/>
        </p:nvSpPr>
        <p:spPr>
          <a:xfrm>
            <a:off x="3419989" y="1654824"/>
            <a:ext cx="2545882" cy="2890861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ln w="0"/>
                <a:solidFill>
                  <a:srgbClr val="1F2937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Graph</a:t>
            </a:r>
          </a:p>
          <a:p>
            <a:pPr algn="ctr"/>
            <a:r>
              <a:rPr lang="en-GB" sz="2400" dirty="0">
                <a:ln w="0"/>
                <a:solidFill>
                  <a:srgbClr val="1F2937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Construction</a:t>
            </a:r>
          </a:p>
        </p:txBody>
      </p:sp>
      <p:sp>
        <p:nvSpPr>
          <p:cNvPr id="22" name="Rettangolo con angoli arrotondati 21">
            <a:extLst>
              <a:ext uri="{FF2B5EF4-FFF2-40B4-BE49-F238E27FC236}">
                <a16:creationId xmlns:a16="http://schemas.microsoft.com/office/drawing/2014/main" id="{1E134D1B-DC0B-FBE3-60A8-7D7654953FC6}"/>
              </a:ext>
            </a:extLst>
          </p:cNvPr>
          <p:cNvSpPr/>
          <p:nvPr/>
        </p:nvSpPr>
        <p:spPr>
          <a:xfrm>
            <a:off x="6200086" y="1654824"/>
            <a:ext cx="2545882" cy="2890861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ln w="0"/>
                <a:solidFill>
                  <a:srgbClr val="1F2937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Community</a:t>
            </a:r>
          </a:p>
          <a:p>
            <a:pPr algn="ctr"/>
            <a:r>
              <a:rPr lang="en-GB" sz="2400" dirty="0">
                <a:ln w="0"/>
                <a:solidFill>
                  <a:srgbClr val="1F2937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Detection</a:t>
            </a:r>
          </a:p>
        </p:txBody>
      </p:sp>
      <p:sp>
        <p:nvSpPr>
          <p:cNvPr id="24" name="Rettangolo con angoli arrotondati 23">
            <a:extLst>
              <a:ext uri="{FF2B5EF4-FFF2-40B4-BE49-F238E27FC236}">
                <a16:creationId xmlns:a16="http://schemas.microsoft.com/office/drawing/2014/main" id="{B00FE88B-84AD-6011-E03F-EF8097287988}"/>
              </a:ext>
            </a:extLst>
          </p:cNvPr>
          <p:cNvSpPr/>
          <p:nvPr/>
        </p:nvSpPr>
        <p:spPr>
          <a:xfrm>
            <a:off x="9005733" y="1654824"/>
            <a:ext cx="2545882" cy="2890861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ln w="0"/>
                <a:solidFill>
                  <a:srgbClr val="1F2937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Anomaly</a:t>
            </a:r>
          </a:p>
          <a:p>
            <a:pPr algn="ctr"/>
            <a:r>
              <a:rPr lang="en-GB" sz="2400" dirty="0">
                <a:ln w="0"/>
                <a:solidFill>
                  <a:srgbClr val="1F2937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Detection</a:t>
            </a:r>
          </a:p>
        </p:txBody>
      </p:sp>
      <p:sp>
        <p:nvSpPr>
          <p:cNvPr id="27" name="Text 4">
            <a:extLst>
              <a:ext uri="{FF2B5EF4-FFF2-40B4-BE49-F238E27FC236}">
                <a16:creationId xmlns:a16="http://schemas.microsoft.com/office/drawing/2014/main" id="{D8B82029-5623-1A17-F444-A44CFD95E7B2}"/>
              </a:ext>
            </a:extLst>
          </p:cNvPr>
          <p:cNvSpPr/>
          <p:nvPr/>
        </p:nvSpPr>
        <p:spPr>
          <a:xfrm>
            <a:off x="1047274" y="3563485"/>
            <a:ext cx="1675523" cy="98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sz="1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CIC-</a:t>
            </a:r>
            <a:r>
              <a:rPr lang="en-GB" sz="1400" dirty="0" err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ToN</a:t>
            </a:r>
            <a:r>
              <a:rPr lang="en-GB" sz="1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-IoT, 20% stratified subset</a:t>
            </a:r>
            <a:endParaRPr lang="en-GB" sz="1400" dirty="0">
              <a:solidFill>
                <a:srgbClr val="1F2937"/>
              </a:solidFill>
            </a:endParaRPr>
          </a:p>
        </p:txBody>
      </p:sp>
      <p:sp>
        <p:nvSpPr>
          <p:cNvPr id="29" name="Text 6">
            <a:extLst>
              <a:ext uri="{FF2B5EF4-FFF2-40B4-BE49-F238E27FC236}">
                <a16:creationId xmlns:a16="http://schemas.microsoft.com/office/drawing/2014/main" id="{17FD6BDF-0D1F-9333-7D14-A415E28B22CC}"/>
              </a:ext>
            </a:extLst>
          </p:cNvPr>
          <p:cNvSpPr/>
          <p:nvPr/>
        </p:nvSpPr>
        <p:spPr>
          <a:xfrm>
            <a:off x="3854482" y="3563485"/>
            <a:ext cx="1675523" cy="98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sz="1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Multi-edge graph per 2h window</a:t>
            </a:r>
            <a:endParaRPr lang="en-GB" sz="1400" dirty="0">
              <a:solidFill>
                <a:srgbClr val="1F2937"/>
              </a:solidFill>
            </a:endParaRPr>
          </a:p>
        </p:txBody>
      </p:sp>
      <p:sp>
        <p:nvSpPr>
          <p:cNvPr id="31" name="Text 8">
            <a:extLst>
              <a:ext uri="{FF2B5EF4-FFF2-40B4-BE49-F238E27FC236}">
                <a16:creationId xmlns:a16="http://schemas.microsoft.com/office/drawing/2014/main" id="{2B350646-B169-752B-0A0A-10D0D65EE1C1}"/>
              </a:ext>
            </a:extLst>
          </p:cNvPr>
          <p:cNvSpPr/>
          <p:nvPr/>
        </p:nvSpPr>
        <p:spPr>
          <a:xfrm>
            <a:off x="6661690" y="3563485"/>
            <a:ext cx="1675523" cy="98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sz="1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LPA labels added to nodes</a:t>
            </a:r>
            <a:endParaRPr lang="en-GB" sz="1400" dirty="0">
              <a:solidFill>
                <a:srgbClr val="1F2937"/>
              </a:solidFill>
            </a:endParaRPr>
          </a:p>
        </p:txBody>
      </p:sp>
      <p:sp>
        <p:nvSpPr>
          <p:cNvPr id="33" name="Text 10">
            <a:extLst>
              <a:ext uri="{FF2B5EF4-FFF2-40B4-BE49-F238E27FC236}">
                <a16:creationId xmlns:a16="http://schemas.microsoft.com/office/drawing/2014/main" id="{47E1D434-3698-D041-8471-7735154FC92B}"/>
              </a:ext>
            </a:extLst>
          </p:cNvPr>
          <p:cNvSpPr/>
          <p:nvPr/>
        </p:nvSpPr>
        <p:spPr>
          <a:xfrm>
            <a:off x="9468898" y="3563485"/>
            <a:ext cx="1675523" cy="98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sz="1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HeteroGNN classifies each edge</a:t>
            </a:r>
            <a:endParaRPr lang="en-GB" sz="1400" dirty="0">
              <a:solidFill>
                <a:srgbClr val="1F293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12650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200" b="1" kern="0" spc="200" dirty="0">
                <a:solidFill>
                  <a:srgbClr val="58A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CHAPTER 2 · MULTI-RELATIONAL GRAPH</a:t>
            </a:r>
            <a:endParaRPr lang="en-GB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3200" b="1" dirty="0">
                <a:solidFill>
                  <a:srgbClr val="1A4D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 Construction &amp; Community Detection</a:t>
            </a:r>
            <a:endParaRPr lang="en-GB" sz="3200" dirty="0">
              <a:solidFill>
                <a:srgbClr val="1A4D8C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456432" cy="2103120"/>
          </a:xfrm>
          <a:prstGeom prst="roundRect">
            <a:avLst>
              <a:gd name="adj" fmla="val 4348"/>
            </a:avLst>
          </a:prstGeom>
          <a:solidFill>
            <a:schemeClr val="bg1"/>
          </a:solidFill>
          <a:ln w="19050">
            <a:solidFill>
              <a:srgbClr val="58A6FF"/>
            </a:solidFill>
            <a:prstDash val="solid"/>
          </a:ln>
        </p:spPr>
        <p:txBody>
          <a:bodyPr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914400" y="19659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sz="2800" b="1" dirty="0">
                <a:solidFill>
                  <a:srgbClr val="58A6FF"/>
                </a:solidFill>
                <a:latin typeface="Aptos" panose="020B0004020202020204" pitchFamily="34" charset="0"/>
                <a:ea typeface="Aptos Mono" pitchFamily="34" charset="-122"/>
                <a:cs typeface="Aptos Mono" pitchFamily="34" charset="-120"/>
              </a:rPr>
              <a:t>Network</a:t>
            </a:r>
            <a:endParaRPr lang="en-GB" sz="2800" dirty="0">
              <a:latin typeface="Aptos" panose="020B00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400" y="245059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sz="1600" b="1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Network edges</a:t>
            </a:r>
            <a:endParaRPr lang="en-GB" sz="1600" dirty="0">
              <a:solidFill>
                <a:schemeClr val="accent1">
                  <a:lumMod val="7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914400" y="2816352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sz="16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Flow duration, packets,</a:t>
            </a:r>
            <a:endParaRPr lang="en-GB" sz="1600" dirty="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  <a:p>
            <a:pPr marL="0" indent="0" algn="ctr">
              <a:buNone/>
            </a:pPr>
            <a:r>
              <a:rPr lang="en-GB" sz="16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bytes/s, protocol</a:t>
            </a:r>
            <a:endParaRPr lang="en-GB" sz="1600" dirty="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297680" y="1783080"/>
            <a:ext cx="3456432" cy="2103120"/>
          </a:xfrm>
          <a:prstGeom prst="roundRect">
            <a:avLst>
              <a:gd name="adj" fmla="val 4348"/>
            </a:avLst>
          </a:prstGeom>
          <a:solidFill>
            <a:schemeClr val="bg1"/>
          </a:solidFill>
          <a:ln w="19050">
            <a:solidFill>
              <a:srgbClr val="3FB950"/>
            </a:solidFill>
            <a:prstDash val="solid"/>
          </a:ln>
        </p:spPr>
        <p:txBody>
          <a:bodyPr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0" y="19659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sz="2800" b="1" dirty="0">
                <a:solidFill>
                  <a:srgbClr val="3FB950"/>
                </a:solidFill>
                <a:latin typeface="Aptos" panose="020B0004020202020204" pitchFamily="34" charset="0"/>
                <a:ea typeface="Aptos Mono" pitchFamily="34" charset="-122"/>
                <a:cs typeface="Aptos Mono" pitchFamily="34" charset="-120"/>
              </a:rPr>
              <a:t>Context</a:t>
            </a:r>
            <a:endParaRPr lang="en-GB" sz="2800" dirty="0">
              <a:latin typeface="Aptos" panose="020B00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572000" y="245059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sz="1600" b="1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Context edges</a:t>
            </a:r>
            <a:endParaRPr lang="en-GB" sz="1600" dirty="0">
              <a:solidFill>
                <a:schemeClr val="accent1">
                  <a:lumMod val="7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572000" y="2816352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sz="16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Inter-arrival times,</a:t>
            </a:r>
            <a:endParaRPr lang="en-GB" sz="1600" dirty="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  <a:p>
            <a:pPr marL="0" indent="0" algn="ctr">
              <a:buNone/>
            </a:pPr>
            <a:r>
              <a:rPr lang="en-GB" sz="16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active / idle means</a:t>
            </a:r>
            <a:endParaRPr lang="en-GB" sz="1600" dirty="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955280" y="1783080"/>
            <a:ext cx="3456432" cy="2103120"/>
          </a:xfrm>
          <a:prstGeom prst="roundRect">
            <a:avLst>
              <a:gd name="adj" fmla="val 4348"/>
            </a:avLst>
          </a:prstGeom>
          <a:solidFill>
            <a:schemeClr val="bg1"/>
          </a:solidFill>
          <a:ln w="19050">
            <a:solidFill>
              <a:srgbClr val="F0883E"/>
            </a:solidFill>
            <a:prstDash val="solid"/>
          </a:ln>
        </p:spPr>
        <p:txBody>
          <a:bodyPr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229600" y="19659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sz="2800" b="1" dirty="0">
                <a:solidFill>
                  <a:srgbClr val="F0883E"/>
                </a:solidFill>
                <a:latin typeface="Aptos" panose="020B0004020202020204" pitchFamily="34" charset="0"/>
                <a:ea typeface="Aptos Mono" pitchFamily="34" charset="-122"/>
                <a:cs typeface="Aptos Mono" pitchFamily="34" charset="-120"/>
              </a:rPr>
              <a:t>Knowledge</a:t>
            </a:r>
            <a:endParaRPr lang="en-GB" sz="2800" dirty="0">
              <a:latin typeface="Aptos" panose="020B00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229600" y="245059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sz="1600" b="1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Knowledge edges</a:t>
            </a:r>
            <a:endParaRPr lang="en-GB" sz="1600" dirty="0">
              <a:solidFill>
                <a:schemeClr val="accent1">
                  <a:lumMod val="7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229600" y="2816352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sz="16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Packet/segment sizes,</a:t>
            </a:r>
            <a:endParaRPr lang="en-GB" sz="1600" dirty="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  <a:p>
            <a:pPr marL="0" indent="0" algn="ctr">
              <a:buNone/>
            </a:pPr>
            <a:r>
              <a:rPr lang="en-GB" sz="16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TCP flag counts</a:t>
            </a:r>
            <a:endParaRPr lang="en-GB" sz="1600" dirty="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40080" y="4160520"/>
            <a:ext cx="10908792" cy="182880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960120" y="431596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800" b="1" dirty="0">
                <a:solidFill>
                  <a:srgbClr val="548235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Label Propagation Algorithm (LPA)</a:t>
            </a:r>
            <a:endParaRPr lang="en-GB" sz="1800" dirty="0">
              <a:solidFill>
                <a:srgbClr val="548235"/>
              </a:solidFill>
              <a:latin typeface="Aptos" panose="020B00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960120" y="4754880"/>
            <a:ext cx="10241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GB" sz="13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Each node repeatedly adopts the most frequent label among its </a:t>
            </a:r>
            <a:r>
              <a:rPr lang="en-GB" sz="1300" dirty="0" err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neighbors</a:t>
            </a:r>
            <a:r>
              <a:rPr lang="en-GB" sz="13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 until labels stabilize.</a:t>
            </a:r>
            <a:endParaRPr lang="en-GB" sz="1300" dirty="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GB" sz="13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Limit: very fast and real-time, but non-deterministic so community quality can vary between runs.</a:t>
            </a:r>
            <a:endParaRPr lang="en-GB" sz="1300" dirty="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0" y="6473952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GB" sz="900" dirty="0">
                <a:solidFill>
                  <a:srgbClr val="8B94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 Environments</a:t>
            </a:r>
            <a:endParaRPr lang="en-GB" sz="90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GB" sz="900" dirty="0">
                <a:solidFill>
                  <a:srgbClr val="8B94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Context-Aware IoT Anomaly Detection</a:t>
            </a:r>
            <a:endParaRPr lang="en-GB" sz="900" dirty="0"/>
          </a:p>
        </p:txBody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F6A0EDDC-4784-A595-D07A-7E96E1402C17}"/>
              </a:ext>
            </a:extLst>
          </p:cNvPr>
          <p:cNvSpPr/>
          <p:nvPr/>
        </p:nvSpPr>
        <p:spPr>
          <a:xfrm>
            <a:off x="9670667" y="6473952"/>
            <a:ext cx="18809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GB" sz="900" dirty="0">
                <a:solidFill>
                  <a:srgbClr val="8B949E"/>
                </a:solidFill>
                <a:latin typeface="Aptos" pitchFamily="34" charset="0"/>
              </a:rPr>
              <a:t>5</a:t>
            </a:r>
            <a:endParaRPr lang="en-GB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200" b="1" kern="0" spc="200" dirty="0">
                <a:solidFill>
                  <a:srgbClr val="58A6FF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CHAPTER 2 · THE MODEL</a:t>
            </a:r>
            <a:endParaRPr lang="en-GB" sz="1200" dirty="0">
              <a:latin typeface="Aptos" panose="020B00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3200" b="1" dirty="0">
                <a:solidFill>
                  <a:srgbClr val="1A4D8C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HeteroGNN &amp; Edge Classification</a:t>
            </a:r>
            <a:endParaRPr lang="en-GB" sz="3200" dirty="0">
              <a:solidFill>
                <a:srgbClr val="1A4D8C"/>
              </a:solidFill>
              <a:latin typeface="Aptos" panose="020B0004020202020204" pitchFamily="34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640080" y="4663440"/>
            <a:ext cx="5349240" cy="141732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 w="1905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914400" y="477316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2000" b="1" dirty="0">
                <a:solidFill>
                  <a:srgbClr val="3FB950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Strengths</a:t>
            </a:r>
            <a:endParaRPr lang="en-GB" sz="1300" dirty="0">
              <a:latin typeface="Aptos" panose="020B00040202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914400" y="512064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600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Scalable · real-time · context-aware. Separate convolutions per edge type, summed into one node embedding.</a:t>
            </a:r>
            <a:endParaRPr lang="en-GB" sz="1600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6202682" y="4663440"/>
            <a:ext cx="5239512" cy="141732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 w="1905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6583680" y="477316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2000" b="1" dirty="0">
                <a:solidFill>
                  <a:srgbClr val="F0883E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Costs</a:t>
            </a:r>
            <a:endParaRPr lang="en-GB" sz="2000" dirty="0">
              <a:latin typeface="Aptos" panose="020B000402020202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583680" y="512064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600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Requires </a:t>
            </a:r>
            <a:r>
              <a:rPr lang="en-GB" sz="1600" dirty="0" err="1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labeled</a:t>
            </a:r>
            <a:r>
              <a:rPr lang="en-GB" sz="1600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 data and training is expensive. Edge prediction concatenates the two endpoint embeddings → benign / anomalous.</a:t>
            </a:r>
            <a:endParaRPr lang="en-GB" sz="1600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0" y="6473952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GB" sz="900" dirty="0">
                <a:solidFill>
                  <a:srgbClr val="8B949E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Smart Environments</a:t>
            </a:r>
            <a:endParaRPr lang="en-GB" sz="900" dirty="0">
              <a:latin typeface="Aptos" panose="020B00040202020202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GB" sz="900" dirty="0">
                <a:solidFill>
                  <a:srgbClr val="8B949E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Context-Aware IoT Anomaly Detection</a:t>
            </a:r>
            <a:endParaRPr lang="en-GB" sz="900" dirty="0">
              <a:latin typeface="Aptos" panose="020B0004020202020204" pitchFamily="34" charset="0"/>
            </a:endParaRPr>
          </a:p>
        </p:txBody>
      </p:sp>
      <p:sp>
        <p:nvSpPr>
          <p:cNvPr id="14" name="Text 18">
            <a:extLst>
              <a:ext uri="{FF2B5EF4-FFF2-40B4-BE49-F238E27FC236}">
                <a16:creationId xmlns:a16="http://schemas.microsoft.com/office/drawing/2014/main" id="{7C58562F-7439-9C76-8129-161C38D66526}"/>
              </a:ext>
            </a:extLst>
          </p:cNvPr>
          <p:cNvSpPr/>
          <p:nvPr/>
        </p:nvSpPr>
        <p:spPr>
          <a:xfrm>
            <a:off x="9670667" y="6473952"/>
            <a:ext cx="18809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GB" sz="900" dirty="0">
                <a:solidFill>
                  <a:srgbClr val="8B949E"/>
                </a:solidFill>
                <a:latin typeface="Aptos" panose="020B0004020202020204" pitchFamily="34" charset="0"/>
              </a:rPr>
              <a:t>6</a:t>
            </a:r>
            <a:endParaRPr lang="en-GB" sz="900" dirty="0">
              <a:latin typeface="Aptos" panose="020B0004020202020204" pitchFamily="34" charset="0"/>
            </a:endParaRPr>
          </a:p>
        </p:txBody>
      </p:sp>
      <p:pic>
        <p:nvPicPr>
          <p:cNvPr id="17" name="Immagine 16">
            <a:extLst>
              <a:ext uri="{FF2B5EF4-FFF2-40B4-BE49-F238E27FC236}">
                <a16:creationId xmlns:a16="http://schemas.microsoft.com/office/drawing/2014/main" id="{F0484FBA-D457-61C9-CC24-88FA69360D0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851" b="11310"/>
          <a:stretch>
            <a:fillRect/>
          </a:stretch>
        </p:blipFill>
        <p:spPr>
          <a:xfrm>
            <a:off x="685967" y="1435608"/>
            <a:ext cx="10561153" cy="296049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200" b="1" kern="0" spc="200" dirty="0">
                <a:solidFill>
                  <a:srgbClr val="58A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CHAPTER 3 · OUR ABLATION STUDY</a:t>
            </a:r>
            <a:endParaRPr lang="en-GB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3200" b="1" dirty="0">
                <a:solidFill>
                  <a:srgbClr val="1A4D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Question</a:t>
            </a:r>
            <a:endParaRPr lang="en-GB" sz="3200" dirty="0">
              <a:solidFill>
                <a:srgbClr val="1A4D8C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911535" cy="11430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905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05840" y="1737360"/>
            <a:ext cx="10149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sz="2200" b="1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How much do the results depend on graph construction?</a:t>
            </a:r>
            <a:endParaRPr lang="en-GB" sz="2200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40080" y="3154680"/>
            <a:ext cx="2587752" cy="1476526"/>
          </a:xfrm>
          <a:prstGeom prst="roundRect">
            <a:avLst>
              <a:gd name="adj" fmla="val 5263"/>
            </a:avLst>
          </a:prstGeom>
          <a:solidFill>
            <a:schemeClr val="bg1"/>
          </a:solidFill>
          <a:ln w="1905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22960" y="3337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sz="2200" b="1" dirty="0">
                <a:solidFill>
                  <a:srgbClr val="58A6FF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CONFIG A</a:t>
            </a:r>
            <a:endParaRPr lang="en-GB" sz="2200" dirty="0">
              <a:latin typeface="Aptos" panose="020B00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22960" y="3977640"/>
            <a:ext cx="22219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GB" sz="1400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  <a:ea typeface="Aptos Mono" pitchFamily="34" charset="-122"/>
                <a:cs typeface="Aptos Mono" pitchFamily="34" charset="-120"/>
              </a:rPr>
              <a:t>network</a:t>
            </a:r>
            <a:endParaRPr lang="en-GB" sz="1400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410712" y="3154680"/>
            <a:ext cx="2587752" cy="1476526"/>
          </a:xfrm>
          <a:prstGeom prst="roundRect">
            <a:avLst>
              <a:gd name="adj" fmla="val 5263"/>
            </a:avLst>
          </a:prstGeom>
          <a:solidFill>
            <a:schemeClr val="bg1"/>
          </a:solidFill>
          <a:ln w="1905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593592" y="3337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sz="2200" b="1" dirty="0">
                <a:solidFill>
                  <a:srgbClr val="F0883E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CONFIG B</a:t>
            </a:r>
            <a:endParaRPr lang="en-GB" sz="2200" dirty="0">
              <a:latin typeface="Aptos" panose="020B00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593592" y="3977640"/>
            <a:ext cx="22219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GB" sz="1400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  <a:ea typeface="Aptos Mono" pitchFamily="34" charset="-122"/>
                <a:cs typeface="Aptos Mono" pitchFamily="34" charset="-120"/>
              </a:rPr>
              <a:t>network + context</a:t>
            </a:r>
            <a:endParaRPr lang="en-GB" sz="1400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181344" y="3154680"/>
            <a:ext cx="2587752" cy="1476526"/>
          </a:xfrm>
          <a:prstGeom prst="roundRect">
            <a:avLst>
              <a:gd name="adj" fmla="val 5263"/>
            </a:avLst>
          </a:prstGeom>
          <a:solidFill>
            <a:schemeClr val="bg1"/>
          </a:solidFill>
          <a:ln w="1905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364224" y="3337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sz="2200" b="1" dirty="0">
                <a:solidFill>
                  <a:srgbClr val="3FB950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CONFIG C</a:t>
            </a:r>
            <a:endParaRPr lang="en-GB" sz="2200" dirty="0">
              <a:latin typeface="Aptos" panose="020B00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364224" y="3977640"/>
            <a:ext cx="22219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GB" sz="1400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  <a:ea typeface="Aptos Mono" pitchFamily="34" charset="-122"/>
                <a:cs typeface="Aptos Mono" pitchFamily="34" charset="-120"/>
              </a:rPr>
              <a:t>network + knowledge</a:t>
            </a:r>
            <a:endParaRPr lang="en-GB" sz="1400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951976" y="3154680"/>
            <a:ext cx="2587752" cy="1476526"/>
          </a:xfrm>
          <a:prstGeom prst="roundRect">
            <a:avLst>
              <a:gd name="adj" fmla="val 5263"/>
            </a:avLst>
          </a:prstGeom>
          <a:solidFill>
            <a:schemeClr val="bg1"/>
          </a:solidFill>
          <a:ln w="1905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9134856" y="3337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sz="2200" b="1" dirty="0">
                <a:solidFill>
                  <a:srgbClr val="F0883E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CONFIG D</a:t>
            </a:r>
            <a:endParaRPr lang="en-GB" sz="2200" dirty="0">
              <a:latin typeface="Aptos" panose="020B00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9134856" y="3977640"/>
            <a:ext cx="22219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GB" sz="1400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  <a:ea typeface="Aptos Mono" pitchFamily="34" charset="-122"/>
                <a:cs typeface="Aptos Mono" pitchFamily="34" charset="-120"/>
              </a:rPr>
              <a:t>all three</a:t>
            </a:r>
            <a:endParaRPr lang="en-GB" sz="1400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741717" y="4905526"/>
            <a:ext cx="5145966" cy="9144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905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06481" y="4905526"/>
            <a:ext cx="46621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250" b="1" dirty="0">
                <a:solidFill>
                  <a:srgbClr val="3FB950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Constant:  </a:t>
            </a:r>
            <a:r>
              <a:rPr lang="en-GB" sz="1250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pipeline · HeteroGNN · dataset · hyperparameters</a:t>
            </a:r>
            <a:endParaRPr lang="en-GB" sz="1250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408912" y="4905526"/>
            <a:ext cx="5040408" cy="9144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905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674024" y="4905526"/>
            <a:ext cx="45741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250" b="1" dirty="0">
                <a:solidFill>
                  <a:srgbClr val="58A6FF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Variable:  </a:t>
            </a:r>
            <a:r>
              <a:rPr lang="en-GB" sz="1250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only the graph structure (which edge types are built)</a:t>
            </a:r>
            <a:endParaRPr lang="en-GB" sz="1250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0" y="6473952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GB" sz="900" dirty="0">
                <a:solidFill>
                  <a:srgbClr val="8B94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 Environments</a:t>
            </a:r>
            <a:endParaRPr lang="en-GB" sz="900" dirty="0"/>
          </a:p>
        </p:txBody>
      </p:sp>
      <p:sp>
        <p:nvSpPr>
          <p:cNvPr id="23" name="Text 21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GB" sz="900" dirty="0">
                <a:solidFill>
                  <a:srgbClr val="8B94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Context-Aware IoT Anomaly Detection</a:t>
            </a:r>
            <a:endParaRPr lang="en-GB" sz="900" dirty="0"/>
          </a:p>
        </p:txBody>
      </p:sp>
      <p:sp>
        <p:nvSpPr>
          <p:cNvPr id="26" name="Text 18">
            <a:extLst>
              <a:ext uri="{FF2B5EF4-FFF2-40B4-BE49-F238E27FC236}">
                <a16:creationId xmlns:a16="http://schemas.microsoft.com/office/drawing/2014/main" id="{09C04F9C-19F4-369C-2A56-3B27F8D28A4D}"/>
              </a:ext>
            </a:extLst>
          </p:cNvPr>
          <p:cNvSpPr/>
          <p:nvPr/>
        </p:nvSpPr>
        <p:spPr>
          <a:xfrm>
            <a:off x="9670667" y="6473952"/>
            <a:ext cx="18809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GB" sz="900" dirty="0">
                <a:solidFill>
                  <a:srgbClr val="8B94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GB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200" b="1" kern="0" spc="200" dirty="0">
                <a:solidFill>
                  <a:srgbClr val="58A6FF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CHAPTER 3 · HOW WE RAN IT</a:t>
            </a:r>
            <a:endParaRPr lang="en-GB" sz="1200" dirty="0">
              <a:latin typeface="Aptos" panose="020B00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3200" b="1" dirty="0">
                <a:solidFill>
                  <a:srgbClr val="1A4D8C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Experimental Setup</a:t>
            </a:r>
            <a:endParaRPr lang="en-GB" sz="3200" dirty="0">
              <a:solidFill>
                <a:srgbClr val="1A4D8C"/>
              </a:solidFill>
              <a:latin typeface="Aptos" panose="020B00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760220"/>
            <a:ext cx="2514600" cy="1463040"/>
          </a:xfrm>
          <a:prstGeom prst="roundRect">
            <a:avLst>
              <a:gd name="adj" fmla="val 6250"/>
            </a:avLst>
          </a:prstGeom>
          <a:solidFill>
            <a:schemeClr val="bg1"/>
          </a:solidFill>
          <a:ln w="190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77240" y="1833372"/>
            <a:ext cx="2240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sz="3000" b="1" dirty="0">
                <a:solidFill>
                  <a:srgbClr val="58A6FF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57</a:t>
            </a:r>
            <a:endParaRPr lang="en-GB" sz="3000" dirty="0">
              <a:latin typeface="Aptos" panose="020B00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77240" y="2575865"/>
            <a:ext cx="2240280" cy="497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GB" sz="1400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Temporal graphs</a:t>
            </a:r>
            <a:endParaRPr lang="en-GB" sz="1400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</a:endParaRPr>
          </a:p>
          <a:p>
            <a:pPr marL="0" indent="0" algn="ctr">
              <a:buNone/>
            </a:pPr>
            <a:r>
              <a:rPr lang="en-GB" sz="1400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(39 train / 18 test)</a:t>
            </a:r>
            <a:endParaRPr lang="en-GB" sz="1400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429000" y="1760220"/>
            <a:ext cx="2514600" cy="1463040"/>
          </a:xfrm>
          <a:prstGeom prst="roundRect">
            <a:avLst>
              <a:gd name="adj" fmla="val 6250"/>
            </a:avLst>
          </a:prstGeom>
          <a:solidFill>
            <a:schemeClr val="bg1"/>
          </a:solidFill>
          <a:ln w="190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GB" sz="1400" dirty="0">
              <a:latin typeface="Aptos" panose="020B00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566160" y="1833372"/>
            <a:ext cx="2240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sz="3000" b="1" dirty="0">
                <a:solidFill>
                  <a:srgbClr val="3FB950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2 h</a:t>
            </a:r>
            <a:endParaRPr lang="en-GB" sz="3000" dirty="0">
              <a:latin typeface="Aptos" panose="020B00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566160" y="2575865"/>
            <a:ext cx="2240280" cy="497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GB" sz="1400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Time window</a:t>
            </a:r>
            <a:endParaRPr lang="en-GB" sz="1400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</a:endParaRPr>
          </a:p>
          <a:p>
            <a:pPr marL="0" indent="0" algn="ctr">
              <a:buNone/>
            </a:pPr>
            <a:r>
              <a:rPr lang="en-GB" sz="1400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per snapshot</a:t>
            </a:r>
            <a:endParaRPr lang="en-GB" sz="1400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217920" y="1760220"/>
            <a:ext cx="2514600" cy="1463040"/>
          </a:xfrm>
          <a:prstGeom prst="roundRect">
            <a:avLst>
              <a:gd name="adj" fmla="val 6250"/>
            </a:avLst>
          </a:prstGeom>
          <a:solidFill>
            <a:schemeClr val="bg1"/>
          </a:solidFill>
          <a:ln w="190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GB" sz="1400" dirty="0">
              <a:latin typeface="Aptos" panose="020B00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355080" y="1833372"/>
            <a:ext cx="2240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sz="3000" b="1" dirty="0">
                <a:solidFill>
                  <a:srgbClr val="F0883E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70 / 30</a:t>
            </a:r>
            <a:endParaRPr lang="en-GB" sz="3000" dirty="0">
              <a:latin typeface="Aptos" panose="020B00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355080" y="2575865"/>
            <a:ext cx="2240280" cy="497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GB" sz="1400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Stratified split</a:t>
            </a:r>
            <a:endParaRPr lang="en-GB" sz="1400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</a:endParaRPr>
          </a:p>
          <a:p>
            <a:pPr marL="0" indent="0" algn="ctr">
              <a:buNone/>
            </a:pPr>
            <a:r>
              <a:rPr lang="en-GB" sz="1400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train / test</a:t>
            </a:r>
            <a:endParaRPr lang="en-GB" sz="1400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9006840" y="1760220"/>
            <a:ext cx="2542032" cy="1463040"/>
          </a:xfrm>
          <a:prstGeom prst="roundRect">
            <a:avLst>
              <a:gd name="adj" fmla="val 6250"/>
            </a:avLst>
          </a:prstGeom>
          <a:solidFill>
            <a:schemeClr val="bg1"/>
          </a:solidFill>
          <a:ln w="190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9144000" y="1833372"/>
            <a:ext cx="22677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sz="3000" b="1" dirty="0">
                <a:solidFill>
                  <a:srgbClr val="A371F7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GB" sz="3000" dirty="0">
              <a:latin typeface="Aptos" panose="020B00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144000" y="2575865"/>
            <a:ext cx="2267712" cy="497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GB" sz="1400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Training epochs</a:t>
            </a:r>
            <a:endParaRPr lang="en-GB" sz="1400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</a:endParaRPr>
          </a:p>
          <a:p>
            <a:pPr marL="0" indent="0" algn="ctr">
              <a:buNone/>
            </a:pPr>
            <a:r>
              <a:rPr lang="en-GB" sz="1400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(Apple M2)</a:t>
            </a:r>
            <a:endParaRPr lang="en-GB" sz="1400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40080" y="3566160"/>
            <a:ext cx="10911535" cy="2331720"/>
          </a:xfrm>
          <a:prstGeom prst="roundRect">
            <a:avLst>
              <a:gd name="adj" fmla="val 3922"/>
            </a:avLst>
          </a:prstGeom>
          <a:solidFill>
            <a:schemeClr val="bg1"/>
          </a:solidFill>
          <a:ln w="190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960120" y="382219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800" b="1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Training details</a:t>
            </a:r>
            <a:endParaRPr lang="en-GB" sz="1800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960120" y="4251960"/>
            <a:ext cx="10241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GB" sz="1400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Edge-level classification with focal loss to counter class imbalance; Adam optimizer (</a:t>
            </a:r>
            <a:r>
              <a:rPr lang="en-GB" sz="1400" dirty="0" err="1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lr</a:t>
            </a:r>
            <a:r>
              <a:rPr lang="en-GB" sz="1400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 1e-3, weight decay 1e-3).</a:t>
            </a:r>
            <a:endParaRPr lang="en-GB" sz="1400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</a:endParaRPr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GB" sz="1400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Training graphs filtered to those containing at least one anomaly, so the model sees attack patterns.</a:t>
            </a:r>
            <a:endParaRPr lang="en-GB" sz="1400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</a:endParaRPr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GB" sz="1400" dirty="0">
                <a:solidFill>
                  <a:srgbClr val="58A6FF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Stratified per-graph split, temporal split was infeasible because only 5/39 training graph would contain anomalies (traffic concentrated in last 4-5 days of April). Stratification ensures both train and test sets see attack patterns.</a:t>
            </a:r>
            <a:endParaRPr lang="en-GB" sz="1400" dirty="0">
              <a:latin typeface="Aptos" panose="020B00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0" y="6473952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GB" sz="900" dirty="0">
                <a:solidFill>
                  <a:srgbClr val="8B949E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Smart Environments</a:t>
            </a:r>
            <a:endParaRPr lang="en-GB" sz="900" dirty="0">
              <a:latin typeface="Aptos" panose="020B00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GB" sz="900" dirty="0">
                <a:solidFill>
                  <a:srgbClr val="8B949E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Context-Aware IoT Anomaly Detection</a:t>
            </a:r>
            <a:endParaRPr lang="en-GB" sz="900" dirty="0">
              <a:latin typeface="Aptos" panose="020B0004020202020204" pitchFamily="34" charset="0"/>
            </a:endParaRPr>
          </a:p>
        </p:txBody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1312E3E0-FA61-9C9C-C3C2-F97A6526CC71}"/>
              </a:ext>
            </a:extLst>
          </p:cNvPr>
          <p:cNvSpPr/>
          <p:nvPr/>
        </p:nvSpPr>
        <p:spPr>
          <a:xfrm>
            <a:off x="9670667" y="6473952"/>
            <a:ext cx="18809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GB" sz="900" dirty="0">
                <a:solidFill>
                  <a:srgbClr val="8B949E"/>
                </a:solidFill>
                <a:latin typeface="Aptos" panose="020B0004020202020204" pitchFamily="34" charset="0"/>
              </a:rPr>
              <a:t>8</a:t>
            </a:r>
            <a:endParaRPr lang="en-GB" sz="90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200" b="1" kern="0" spc="200" dirty="0">
                <a:solidFill>
                  <a:srgbClr val="58A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CHAPTER 4 · CIC-TON-IOT</a:t>
            </a:r>
            <a:endParaRPr lang="en-GB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3200" b="1" dirty="0">
                <a:solidFill>
                  <a:srgbClr val="1A4D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 Overview</a:t>
            </a:r>
            <a:endParaRPr lang="en-GB" sz="3200" dirty="0">
              <a:solidFill>
                <a:srgbClr val="1A4D8C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514600" cy="141732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 w="190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5" name="Text 3"/>
          <p:cNvSpPr/>
          <p:nvPr/>
        </p:nvSpPr>
        <p:spPr>
          <a:xfrm>
            <a:off x="777240" y="1993392"/>
            <a:ext cx="224028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sz="3000" b="1" dirty="0">
                <a:solidFill>
                  <a:srgbClr val="58A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5.35 M</a:t>
            </a:r>
            <a:endParaRPr lang="en-GB" sz="3000" dirty="0"/>
          </a:p>
        </p:txBody>
      </p:sp>
      <p:sp>
        <p:nvSpPr>
          <p:cNvPr id="6" name="Text 4"/>
          <p:cNvSpPr/>
          <p:nvPr/>
        </p:nvSpPr>
        <p:spPr>
          <a:xfrm>
            <a:off x="777240" y="2707538"/>
            <a:ext cx="2240280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GB" sz="1400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total flows</a:t>
            </a:r>
            <a:endParaRPr lang="en-GB" sz="1400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429000" y="1828800"/>
            <a:ext cx="2514600" cy="141732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 w="190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8" name="Text 6"/>
          <p:cNvSpPr/>
          <p:nvPr/>
        </p:nvSpPr>
        <p:spPr>
          <a:xfrm>
            <a:off x="3566160" y="1993392"/>
            <a:ext cx="224028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sz="3000" b="1" dirty="0">
                <a:solidFill>
                  <a:srgbClr val="3FB9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85</a:t>
            </a:r>
            <a:endParaRPr lang="en-GB" sz="3000" dirty="0"/>
          </a:p>
        </p:txBody>
      </p:sp>
      <p:sp>
        <p:nvSpPr>
          <p:cNvPr id="9" name="Text 7"/>
          <p:cNvSpPr/>
          <p:nvPr/>
        </p:nvSpPr>
        <p:spPr>
          <a:xfrm>
            <a:off x="3566160" y="2707538"/>
            <a:ext cx="2240280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GB" sz="1400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columns</a:t>
            </a:r>
            <a:endParaRPr lang="en-GB" sz="1400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2514600" cy="141732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 w="190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11" name="Text 9"/>
          <p:cNvSpPr/>
          <p:nvPr/>
        </p:nvSpPr>
        <p:spPr>
          <a:xfrm>
            <a:off x="6355080" y="1993392"/>
            <a:ext cx="224028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sz="3000" b="1" dirty="0">
                <a:solidFill>
                  <a:srgbClr val="F088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 days</a:t>
            </a:r>
            <a:endParaRPr lang="en-GB" sz="3000" dirty="0"/>
          </a:p>
        </p:txBody>
      </p:sp>
      <p:sp>
        <p:nvSpPr>
          <p:cNvPr id="12" name="Text 10"/>
          <p:cNvSpPr/>
          <p:nvPr/>
        </p:nvSpPr>
        <p:spPr>
          <a:xfrm>
            <a:off x="6355080" y="2707538"/>
            <a:ext cx="2240280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GB" sz="1400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April 2019</a:t>
            </a:r>
            <a:endParaRPr lang="en-GB" sz="1400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9006840" y="1828800"/>
            <a:ext cx="2542032" cy="141732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 w="190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14" name="Text 12"/>
          <p:cNvSpPr/>
          <p:nvPr/>
        </p:nvSpPr>
        <p:spPr>
          <a:xfrm>
            <a:off x="9144000" y="1993392"/>
            <a:ext cx="2267712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sz="3000" b="1" dirty="0">
                <a:solidFill>
                  <a:srgbClr val="A371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≈ 1.07 M</a:t>
            </a:r>
            <a:endParaRPr lang="en-GB" sz="3000" dirty="0"/>
          </a:p>
        </p:txBody>
      </p:sp>
      <p:sp>
        <p:nvSpPr>
          <p:cNvPr id="15" name="Text 13"/>
          <p:cNvSpPr/>
          <p:nvPr/>
        </p:nvSpPr>
        <p:spPr>
          <a:xfrm>
            <a:off x="9144000" y="2707538"/>
            <a:ext cx="2267712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GB" sz="1400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20% subset rows</a:t>
            </a:r>
            <a:endParaRPr lang="en-GB" sz="1400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40080" y="3611880"/>
            <a:ext cx="5349240" cy="2377440"/>
          </a:xfrm>
          <a:prstGeom prst="roundRect">
            <a:avLst>
              <a:gd name="adj" fmla="val 3846"/>
            </a:avLst>
          </a:prstGeom>
          <a:solidFill>
            <a:schemeClr val="bg1"/>
          </a:solidFill>
          <a:ln w="190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17" name="Text 15"/>
          <p:cNvSpPr/>
          <p:nvPr/>
        </p:nvSpPr>
        <p:spPr>
          <a:xfrm>
            <a:off x="960120" y="376732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700" b="1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Key columns</a:t>
            </a:r>
            <a:endParaRPr lang="en-GB" sz="1700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960120" y="4206240"/>
            <a:ext cx="3309273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GB" dirty="0" err="1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Src</a:t>
            </a:r>
            <a:r>
              <a:rPr lang="en-GB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 IP · </a:t>
            </a:r>
            <a:r>
              <a:rPr lang="en-GB" dirty="0" err="1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Dst</a:t>
            </a:r>
            <a:r>
              <a:rPr lang="en-GB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 IP · Timestamp · Label · Attack</a:t>
            </a:r>
            <a:endParaRPr lang="en-GB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</a:endParaRPr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GB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Stratified 20% subset keeps the class balance</a:t>
            </a:r>
            <a:endParaRPr lang="en-GB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309360" y="3611880"/>
            <a:ext cx="5239512" cy="2377440"/>
          </a:xfrm>
          <a:prstGeom prst="roundRect">
            <a:avLst>
              <a:gd name="adj" fmla="val 3846"/>
            </a:avLst>
          </a:prstGeom>
          <a:solidFill>
            <a:schemeClr val="bg1"/>
          </a:solidFill>
          <a:ln w="1905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20" name="Text 18"/>
          <p:cNvSpPr/>
          <p:nvPr/>
        </p:nvSpPr>
        <p:spPr>
          <a:xfrm>
            <a:off x="6583680" y="376732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700" b="1" dirty="0">
                <a:solidFill>
                  <a:srgbClr val="58A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 balance</a:t>
            </a:r>
            <a:endParaRPr lang="en-GB" sz="1700" dirty="0"/>
          </a:p>
        </p:txBody>
      </p:sp>
      <p:sp>
        <p:nvSpPr>
          <p:cNvPr id="21" name="Text 19"/>
          <p:cNvSpPr/>
          <p:nvPr/>
        </p:nvSpPr>
        <p:spPr>
          <a:xfrm>
            <a:off x="6583680" y="42062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2600" b="1" dirty="0">
                <a:solidFill>
                  <a:srgbClr val="3FB9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47% </a:t>
            </a:r>
            <a:r>
              <a:rPr lang="en-GB" sz="1400" dirty="0">
                <a:solidFill>
                  <a:srgbClr val="0070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Benign</a:t>
            </a:r>
            <a:r>
              <a:rPr lang="en-GB" sz="2600" b="1" dirty="0">
                <a:solidFill>
                  <a:srgbClr val="F851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 53% </a:t>
            </a:r>
            <a:r>
              <a:rPr lang="en-GB" sz="1400" dirty="0">
                <a:solidFill>
                  <a:srgbClr val="0070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Attack</a:t>
            </a:r>
            <a:endParaRPr lang="en-GB" sz="2600" dirty="0">
              <a:solidFill>
                <a:srgbClr val="0070C0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6583680" y="489204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200" i="1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Roughly balanced and this differs from the paper, which uses a different release of the dataset.</a:t>
            </a:r>
            <a:endParaRPr lang="en-GB" sz="1200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0" y="6473952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GB" sz="900" dirty="0">
                <a:solidFill>
                  <a:srgbClr val="8B94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 Environments</a:t>
            </a:r>
            <a:endParaRPr lang="en-GB" sz="900" dirty="0"/>
          </a:p>
        </p:txBody>
      </p:sp>
      <p:sp>
        <p:nvSpPr>
          <p:cNvPr id="24" name="Text 22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GB" sz="900" dirty="0">
                <a:solidFill>
                  <a:srgbClr val="8B94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Context-Aware IoT Anomaly Detection</a:t>
            </a:r>
            <a:endParaRPr lang="en-GB" sz="900" dirty="0"/>
          </a:p>
        </p:txBody>
      </p:sp>
      <p:sp>
        <p:nvSpPr>
          <p:cNvPr id="26" name="Text 18">
            <a:extLst>
              <a:ext uri="{FF2B5EF4-FFF2-40B4-BE49-F238E27FC236}">
                <a16:creationId xmlns:a16="http://schemas.microsoft.com/office/drawing/2014/main" id="{5125DE3C-5FFD-B394-FB42-DB3B1063ACE6}"/>
              </a:ext>
            </a:extLst>
          </p:cNvPr>
          <p:cNvSpPr/>
          <p:nvPr/>
        </p:nvSpPr>
        <p:spPr>
          <a:xfrm>
            <a:off x="9670667" y="6473952"/>
            <a:ext cx="18809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GB" sz="900" dirty="0">
                <a:solidFill>
                  <a:srgbClr val="8B949E"/>
                </a:solidFill>
                <a:latin typeface="Aptos" pitchFamily="34" charset="0"/>
              </a:rPr>
              <a:t>9</a:t>
            </a:r>
            <a:endParaRPr lang="en-GB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200" b="1" kern="0" spc="200" dirty="0">
                <a:solidFill>
                  <a:srgbClr val="58A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CHAPTER 4 · EXPLORATORY DATA ANALYSIS</a:t>
            </a:r>
            <a:endParaRPr lang="en-GB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3200" b="1" dirty="0">
                <a:solidFill>
                  <a:srgbClr val="1A4D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Attacks Distribution &amp; Temporal Analysis</a:t>
            </a:r>
            <a:endParaRPr lang="en-GB" sz="3200" dirty="0">
              <a:solidFill>
                <a:srgbClr val="1A4D8C"/>
              </a:solidFill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40500" t="4871" r="25" b="2143"/>
          <a:stretch>
            <a:fillRect/>
          </a:stretch>
        </p:blipFill>
        <p:spPr>
          <a:xfrm>
            <a:off x="587856" y="1927471"/>
            <a:ext cx="5109053" cy="313414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87856" y="5154192"/>
            <a:ext cx="510905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  <a:spcAft>
                <a:spcPts val="800"/>
              </a:spcAft>
              <a:buSzPct val="100000"/>
            </a:pPr>
            <a:r>
              <a:rPr lang="en-GB" sz="1600" dirty="0">
                <a:solidFill>
                  <a:srgbClr val="1A4D8C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XSS dominates the attacks (~75%), followed by password cracking and injection.</a:t>
            </a:r>
            <a:endParaRPr lang="en-GB" sz="1600" dirty="0">
              <a:solidFill>
                <a:srgbClr val="1A4D8C"/>
              </a:solidFill>
              <a:latin typeface="Aptos" panose="020B0004020202020204" pitchFamily="34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0" y="6480215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GB" sz="900" dirty="0">
                <a:solidFill>
                  <a:srgbClr val="8B94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 Environments</a:t>
            </a:r>
            <a:endParaRPr lang="en-GB" sz="900" dirty="0"/>
          </a:p>
        </p:txBody>
      </p:sp>
      <p:sp>
        <p:nvSpPr>
          <p:cNvPr id="10" name="Text 6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GB" sz="900" dirty="0">
                <a:solidFill>
                  <a:srgbClr val="8B94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Context-Aware IoT Anomaly Detection</a:t>
            </a:r>
            <a:endParaRPr lang="en-GB" sz="900" dirty="0"/>
          </a:p>
        </p:txBody>
      </p:sp>
      <p:sp>
        <p:nvSpPr>
          <p:cNvPr id="13" name="Text 18">
            <a:extLst>
              <a:ext uri="{FF2B5EF4-FFF2-40B4-BE49-F238E27FC236}">
                <a16:creationId xmlns:a16="http://schemas.microsoft.com/office/drawing/2014/main" id="{7CD6A9A7-30BF-80FA-0F12-54BE4A5158CA}"/>
              </a:ext>
            </a:extLst>
          </p:cNvPr>
          <p:cNvSpPr/>
          <p:nvPr/>
        </p:nvSpPr>
        <p:spPr>
          <a:xfrm>
            <a:off x="9670667" y="6473952"/>
            <a:ext cx="18809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GB" sz="900" dirty="0">
                <a:solidFill>
                  <a:srgbClr val="8B949E"/>
                </a:solidFill>
                <a:latin typeface="Aptos" pitchFamily="34" charset="0"/>
              </a:rPr>
              <a:t>10</a:t>
            </a:r>
            <a:endParaRPr lang="en-GB" sz="900" dirty="0"/>
          </a:p>
        </p:txBody>
      </p:sp>
      <p:grpSp>
        <p:nvGrpSpPr>
          <p:cNvPr id="15" name="Gruppo 14">
            <a:extLst>
              <a:ext uri="{FF2B5EF4-FFF2-40B4-BE49-F238E27FC236}">
                <a16:creationId xmlns:a16="http://schemas.microsoft.com/office/drawing/2014/main" id="{ACBB3D24-002A-9CB7-9CF1-1BF93D83E7AB}"/>
              </a:ext>
            </a:extLst>
          </p:cNvPr>
          <p:cNvGrpSpPr/>
          <p:nvPr/>
        </p:nvGrpSpPr>
        <p:grpSpPr>
          <a:xfrm>
            <a:off x="6105134" y="1780058"/>
            <a:ext cx="5499008" cy="3297883"/>
            <a:chOff x="0" y="1962952"/>
            <a:chExt cx="6341805" cy="3071162"/>
          </a:xfrm>
        </p:grpSpPr>
        <p:pic>
          <p:nvPicPr>
            <p:cNvPr id="16" name="Image 1" descr="preencoded.png">
              <a:extLst>
                <a:ext uri="{FF2B5EF4-FFF2-40B4-BE49-F238E27FC236}">
                  <a16:creationId xmlns:a16="http://schemas.microsoft.com/office/drawing/2014/main" id="{75BF421B-941D-58A1-01A5-4077050F971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65819"/>
            <a:stretch>
              <a:fillRect/>
            </a:stretch>
          </p:blipFill>
          <p:spPr>
            <a:xfrm>
              <a:off x="3362632" y="1962952"/>
              <a:ext cx="2979173" cy="3071161"/>
            </a:xfrm>
            <a:prstGeom prst="rect">
              <a:avLst/>
            </a:prstGeom>
          </p:spPr>
        </p:pic>
        <p:pic>
          <p:nvPicPr>
            <p:cNvPr id="17" name="Image 1" descr="preencoded.png">
              <a:extLst>
                <a:ext uri="{FF2B5EF4-FFF2-40B4-BE49-F238E27FC236}">
                  <a16:creationId xmlns:a16="http://schemas.microsoft.com/office/drawing/2014/main" id="{081B53A4-290A-BC29-2C1D-7511B39F225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61420"/>
            <a:stretch>
              <a:fillRect/>
            </a:stretch>
          </p:blipFill>
          <p:spPr>
            <a:xfrm>
              <a:off x="0" y="1962953"/>
              <a:ext cx="3362632" cy="3071161"/>
            </a:xfrm>
            <a:prstGeom prst="rect">
              <a:avLst/>
            </a:prstGeom>
          </p:spPr>
        </p:pic>
      </p:grp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1BBE1A70-65D0-AE78-5E6A-21301428B668}"/>
              </a:ext>
            </a:extLst>
          </p:cNvPr>
          <p:cNvSpPr txBox="1"/>
          <p:nvPr/>
        </p:nvSpPr>
        <p:spPr>
          <a:xfrm>
            <a:off x="6052607" y="5057243"/>
            <a:ext cx="5499008" cy="79547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50000"/>
              </a:lnSpc>
              <a:spcAft>
                <a:spcPts val="800"/>
              </a:spcAft>
              <a:buSzPct val="100000"/>
            </a:pPr>
            <a:r>
              <a:rPr lang="en-GB" sz="1600" dirty="0">
                <a:solidFill>
                  <a:srgbClr val="1A4D8C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Traffic is nearly flat for the first ~23 days, then explodes in the final 4–5 days: the attack window.</a:t>
            </a:r>
            <a:endParaRPr lang="en-GB" sz="1600" dirty="0">
              <a:solidFill>
                <a:srgbClr val="1A4D8C"/>
              </a:solidFill>
              <a:latin typeface="Aptos" panose="020B0004020202020204" pitchFamily="34" charset="0"/>
            </a:endParaRP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A0F70DC0-1AFA-2D90-2200-E05D41CE70A5}"/>
              </a:ext>
            </a:extLst>
          </p:cNvPr>
          <p:cNvSpPr/>
          <p:nvPr/>
        </p:nvSpPr>
        <p:spPr>
          <a:xfrm>
            <a:off x="587856" y="1435609"/>
            <a:ext cx="5109052" cy="526718"/>
          </a:xfrm>
          <a:prstGeom prst="rect">
            <a:avLst/>
          </a:prstGeom>
          <a:solidFill>
            <a:srgbClr val="1A4D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bg1"/>
                </a:solidFill>
                <a:latin typeface="Aptos" panose="020B0004020202020204" pitchFamily="34" charset="0"/>
              </a:rPr>
              <a:t>CLASS DISTRIBUTION</a:t>
            </a: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BB731A87-1F20-6540-D088-82C3B2855C98}"/>
              </a:ext>
            </a:extLst>
          </p:cNvPr>
          <p:cNvSpPr/>
          <p:nvPr/>
        </p:nvSpPr>
        <p:spPr>
          <a:xfrm>
            <a:off x="6105135" y="1435608"/>
            <a:ext cx="5498703" cy="526718"/>
          </a:xfrm>
          <a:prstGeom prst="rect">
            <a:avLst/>
          </a:prstGeom>
          <a:solidFill>
            <a:srgbClr val="1A4D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bg1"/>
                </a:solidFill>
                <a:latin typeface="Aptos" panose="020B0004020202020204" pitchFamily="34" charset="0"/>
              </a:rPr>
              <a:t>DAILY TRAFFIC – April 2019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200" b="1" kern="0" spc="200" dirty="0">
                <a:solidFill>
                  <a:srgbClr val="58A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CHAPTER 4 · A HUB-CENTRIC NETWORK</a:t>
            </a:r>
            <a:endParaRPr lang="en-GB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3200" b="1" dirty="0">
                <a:solidFill>
                  <a:srgbClr val="1A4D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Network Topology</a:t>
            </a:r>
            <a:endParaRPr lang="en-GB" sz="3200" dirty="0">
              <a:solidFill>
                <a:srgbClr val="1A4D8C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29000" cy="1554480"/>
          </a:xfrm>
          <a:prstGeom prst="roundRect">
            <a:avLst>
              <a:gd name="adj" fmla="val 5882"/>
            </a:avLst>
          </a:prstGeom>
          <a:solidFill>
            <a:schemeClr val="bg1"/>
          </a:solidFill>
          <a:ln w="190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5" name="Text 3"/>
          <p:cNvSpPr/>
          <p:nvPr/>
        </p:nvSpPr>
        <p:spPr>
          <a:xfrm>
            <a:off x="777240" y="1993392"/>
            <a:ext cx="315468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sz="3000" b="1" dirty="0">
                <a:solidFill>
                  <a:srgbClr val="58A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67,124</a:t>
            </a:r>
            <a:endParaRPr lang="en-GB" sz="3000" dirty="0"/>
          </a:p>
        </p:txBody>
      </p:sp>
      <p:sp>
        <p:nvSpPr>
          <p:cNvPr id="6" name="Text 4"/>
          <p:cNvSpPr/>
          <p:nvPr/>
        </p:nvSpPr>
        <p:spPr>
          <a:xfrm>
            <a:off x="777240" y="2792578"/>
            <a:ext cx="3154680" cy="528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GB" sz="1600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unique source IPs</a:t>
            </a:r>
            <a:endParaRPr lang="en-GB" sz="1600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343400" y="1828800"/>
            <a:ext cx="3429000" cy="1554480"/>
          </a:xfrm>
          <a:prstGeom prst="roundRect">
            <a:avLst>
              <a:gd name="adj" fmla="val 5882"/>
            </a:avLst>
          </a:prstGeom>
          <a:solidFill>
            <a:schemeClr val="bg1"/>
          </a:solidFill>
          <a:ln w="190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8" name="Text 6"/>
          <p:cNvSpPr/>
          <p:nvPr/>
        </p:nvSpPr>
        <p:spPr>
          <a:xfrm>
            <a:off x="4480560" y="1993392"/>
            <a:ext cx="315468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sz="3000" b="1" dirty="0">
                <a:solidFill>
                  <a:srgbClr val="3FB9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1,094</a:t>
            </a:r>
            <a:endParaRPr lang="en-GB" sz="3000" dirty="0"/>
          </a:p>
        </p:txBody>
      </p:sp>
      <p:sp>
        <p:nvSpPr>
          <p:cNvPr id="9" name="Text 7"/>
          <p:cNvSpPr/>
          <p:nvPr/>
        </p:nvSpPr>
        <p:spPr>
          <a:xfrm>
            <a:off x="4480560" y="2792578"/>
            <a:ext cx="3154680" cy="528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GB" sz="1600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unique destination IPs</a:t>
            </a:r>
            <a:endParaRPr lang="en-GB" sz="1600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046720" y="1828800"/>
            <a:ext cx="3502152" cy="1554480"/>
          </a:xfrm>
          <a:prstGeom prst="roundRect">
            <a:avLst>
              <a:gd name="adj" fmla="val 5882"/>
            </a:avLst>
          </a:prstGeom>
          <a:solidFill>
            <a:schemeClr val="bg1"/>
          </a:solidFill>
          <a:ln w="190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11" name="Text 9"/>
          <p:cNvSpPr/>
          <p:nvPr/>
        </p:nvSpPr>
        <p:spPr>
          <a:xfrm>
            <a:off x="8183880" y="1993392"/>
            <a:ext cx="3227832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sz="3000" b="1" dirty="0">
                <a:solidFill>
                  <a:srgbClr val="F088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TCP</a:t>
            </a:r>
            <a:endParaRPr lang="en-GB" sz="3000" dirty="0"/>
          </a:p>
        </p:txBody>
      </p:sp>
      <p:sp>
        <p:nvSpPr>
          <p:cNvPr id="12" name="Text 10"/>
          <p:cNvSpPr/>
          <p:nvPr/>
        </p:nvSpPr>
        <p:spPr>
          <a:xfrm>
            <a:off x="8183880" y="2792578"/>
            <a:ext cx="3227832" cy="528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GB" sz="1600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dominant protocol</a:t>
            </a:r>
            <a:endParaRPr lang="en-GB" sz="1600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</a:endParaRPr>
          </a:p>
          <a:p>
            <a:pPr marL="0" indent="0" algn="ctr">
              <a:buNone/>
            </a:pPr>
            <a:r>
              <a:rPr lang="en-GB" sz="1600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(≈ 77% of flows)</a:t>
            </a:r>
            <a:endParaRPr lang="en-GB" sz="1600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40080" y="3749040"/>
            <a:ext cx="10911535" cy="2240280"/>
          </a:xfrm>
          <a:prstGeom prst="roundRect">
            <a:avLst>
              <a:gd name="adj" fmla="val 4082"/>
            </a:avLst>
          </a:prstGeom>
          <a:solidFill>
            <a:schemeClr val="bg1"/>
          </a:solidFill>
          <a:ln w="1905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14" name="Text 12"/>
          <p:cNvSpPr/>
          <p:nvPr/>
        </p:nvSpPr>
        <p:spPr>
          <a:xfrm>
            <a:off x="960120" y="3913632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2000" b="1" dirty="0">
                <a:solidFill>
                  <a:srgbClr val="58A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Strongly asymmetric, hub-centric structure</a:t>
            </a:r>
            <a:endParaRPr lang="en-GB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4389120"/>
            <a:ext cx="836807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GB" sz="1600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Far more source IPs than destinations: many devices talk to a handful of servers.</a:t>
            </a:r>
            <a:endParaRPr lang="en-GB" sz="1600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</a:endParaRPr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GB" sz="1600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A few high-degree nodes (hubs) concentrate most of the traffic.</a:t>
            </a:r>
            <a:endParaRPr lang="en-GB" sz="1600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</a:endParaRPr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GB" sz="1600" b="1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This topology is exactly what makes the hub-attack pattern (next slides) so striking.</a:t>
            </a:r>
            <a:endParaRPr lang="en-GB" sz="1600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0" y="6473952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GB" sz="900" dirty="0">
                <a:solidFill>
                  <a:srgbClr val="8B94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 Environments</a:t>
            </a:r>
            <a:endParaRPr lang="en-GB" sz="900" dirty="0"/>
          </a:p>
        </p:txBody>
      </p:sp>
      <p:sp>
        <p:nvSpPr>
          <p:cNvPr id="17" name="Text 15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GB" sz="900" dirty="0">
                <a:solidFill>
                  <a:srgbClr val="8B94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Context-Aware IoT Anomaly Detection</a:t>
            </a:r>
            <a:endParaRPr lang="en-GB" sz="9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C1E8785E-EEDE-80A8-41A9-7A833B4687D9}"/>
              </a:ext>
            </a:extLst>
          </p:cNvPr>
          <p:cNvSpPr/>
          <p:nvPr/>
        </p:nvSpPr>
        <p:spPr>
          <a:xfrm>
            <a:off x="9670667" y="6473952"/>
            <a:ext cx="18809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GB" sz="900" dirty="0">
                <a:solidFill>
                  <a:srgbClr val="8B94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GB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26034B-708D-F2CF-C2FC-9F17B192E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9FA2825-12EC-BA37-F2C5-8A0B735902F3}"/>
              </a:ext>
            </a:extLst>
          </p:cNvPr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200" b="1" kern="0" spc="200" dirty="0">
                <a:solidFill>
                  <a:srgbClr val="58A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CHAPTER 4 · NETWORK TOPOLOGY</a:t>
            </a:r>
            <a:endParaRPr lang="en-GB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B113B7A-EF50-A25E-3C7F-A32F1093C378}"/>
              </a:ext>
            </a:extLst>
          </p:cNvPr>
          <p:cNvSpPr/>
          <p:nvPr/>
        </p:nvSpPr>
        <p:spPr>
          <a:xfrm>
            <a:off x="640080" y="658368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3200" b="1" dirty="0">
                <a:solidFill>
                  <a:srgbClr val="1A4D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 Categorization</a:t>
            </a:r>
            <a:endParaRPr lang="en-GB" sz="3200" dirty="0">
              <a:solidFill>
                <a:srgbClr val="1A4D8C"/>
              </a:solidFill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DB260529-F550-2287-6D2A-6F328763ECF2}"/>
              </a:ext>
            </a:extLst>
          </p:cNvPr>
          <p:cNvSpPr/>
          <p:nvPr/>
        </p:nvSpPr>
        <p:spPr>
          <a:xfrm>
            <a:off x="0" y="6473952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GB" sz="900" dirty="0">
                <a:solidFill>
                  <a:srgbClr val="8B94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 Environments</a:t>
            </a:r>
            <a:endParaRPr lang="en-GB" sz="9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D3BCC915-788C-4430-0390-B49A04B6FF03}"/>
              </a:ext>
            </a:extLst>
          </p:cNvPr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GB" sz="900" dirty="0">
                <a:solidFill>
                  <a:srgbClr val="8B94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Context-Aware IoT Anomaly Detection</a:t>
            </a:r>
            <a:endParaRPr lang="en-GB" sz="900" dirty="0"/>
          </a:p>
        </p:txBody>
      </p:sp>
      <p:pic>
        <p:nvPicPr>
          <p:cNvPr id="21" name="Immagine 20">
            <a:extLst>
              <a:ext uri="{FF2B5EF4-FFF2-40B4-BE49-F238E27FC236}">
                <a16:creationId xmlns:a16="http://schemas.microsoft.com/office/drawing/2014/main" id="{2D5C53E4-C743-CCF0-900C-1D9F3A49AEC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1679" t="14142" r="232" b="346"/>
          <a:stretch>
            <a:fillRect/>
          </a:stretch>
        </p:blipFill>
        <p:spPr>
          <a:xfrm>
            <a:off x="640080" y="1869276"/>
            <a:ext cx="4635811" cy="3910381"/>
          </a:xfrm>
          <a:prstGeom prst="rect">
            <a:avLst/>
          </a:prstGeom>
        </p:spPr>
      </p:pic>
      <p:sp>
        <p:nvSpPr>
          <p:cNvPr id="23" name="Text 18">
            <a:extLst>
              <a:ext uri="{FF2B5EF4-FFF2-40B4-BE49-F238E27FC236}">
                <a16:creationId xmlns:a16="http://schemas.microsoft.com/office/drawing/2014/main" id="{6B9491AE-B4F4-9DDA-D814-FC6F87D039AB}"/>
              </a:ext>
            </a:extLst>
          </p:cNvPr>
          <p:cNvSpPr/>
          <p:nvPr/>
        </p:nvSpPr>
        <p:spPr>
          <a:xfrm>
            <a:off x="9670667" y="6473952"/>
            <a:ext cx="18809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GB" sz="900" dirty="0">
                <a:solidFill>
                  <a:srgbClr val="8B94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GB" sz="900" dirty="0"/>
          </a:p>
        </p:txBody>
      </p:sp>
      <p:sp>
        <p:nvSpPr>
          <p:cNvPr id="24" name="Ovale 23">
            <a:extLst>
              <a:ext uri="{FF2B5EF4-FFF2-40B4-BE49-F238E27FC236}">
                <a16:creationId xmlns:a16="http://schemas.microsoft.com/office/drawing/2014/main" id="{B79EBE07-F663-2577-9C9F-8B2DBAF53E04}"/>
              </a:ext>
            </a:extLst>
          </p:cNvPr>
          <p:cNvSpPr/>
          <p:nvPr/>
        </p:nvSpPr>
        <p:spPr>
          <a:xfrm>
            <a:off x="5791200" y="2682254"/>
            <a:ext cx="255639" cy="255639"/>
          </a:xfrm>
          <a:prstGeom prst="ellipse">
            <a:avLst/>
          </a:prstGeom>
          <a:solidFill>
            <a:srgbClr val="70B6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5" name="Ovale 24">
            <a:extLst>
              <a:ext uri="{FF2B5EF4-FFF2-40B4-BE49-F238E27FC236}">
                <a16:creationId xmlns:a16="http://schemas.microsoft.com/office/drawing/2014/main" id="{30B25267-1F7A-D0B5-F47B-D5137FF0E7D4}"/>
              </a:ext>
            </a:extLst>
          </p:cNvPr>
          <p:cNvSpPr/>
          <p:nvPr/>
        </p:nvSpPr>
        <p:spPr>
          <a:xfrm>
            <a:off x="5809380" y="3327761"/>
            <a:ext cx="255639" cy="255639"/>
          </a:xfrm>
          <a:prstGeom prst="ellipse">
            <a:avLst/>
          </a:prstGeom>
          <a:solidFill>
            <a:srgbClr val="6CDC9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6" name="Ovale 25">
            <a:extLst>
              <a:ext uri="{FF2B5EF4-FFF2-40B4-BE49-F238E27FC236}">
                <a16:creationId xmlns:a16="http://schemas.microsoft.com/office/drawing/2014/main" id="{D222835F-08CF-EEE9-B88D-91D7A87454D7}"/>
              </a:ext>
            </a:extLst>
          </p:cNvPr>
          <p:cNvSpPr/>
          <p:nvPr/>
        </p:nvSpPr>
        <p:spPr>
          <a:xfrm>
            <a:off x="5794937" y="3946562"/>
            <a:ext cx="255639" cy="255639"/>
          </a:xfrm>
          <a:prstGeom prst="ellipse">
            <a:avLst/>
          </a:prstGeom>
          <a:solidFill>
            <a:srgbClr val="EF817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7" name="Ovale 26">
            <a:extLst>
              <a:ext uri="{FF2B5EF4-FFF2-40B4-BE49-F238E27FC236}">
                <a16:creationId xmlns:a16="http://schemas.microsoft.com/office/drawing/2014/main" id="{5F4C259C-753C-C8F9-CF09-7DFB05234C2E}"/>
              </a:ext>
            </a:extLst>
          </p:cNvPr>
          <p:cNvSpPr/>
          <p:nvPr/>
        </p:nvSpPr>
        <p:spPr>
          <a:xfrm>
            <a:off x="5801033" y="4502164"/>
            <a:ext cx="255639" cy="255639"/>
          </a:xfrm>
          <a:prstGeom prst="ellipse">
            <a:avLst/>
          </a:prstGeom>
          <a:solidFill>
            <a:srgbClr val="F7B95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1028892F-84BC-5592-FD1B-10FF5EE4AF1A}"/>
              </a:ext>
            </a:extLst>
          </p:cNvPr>
          <p:cNvSpPr/>
          <p:nvPr/>
        </p:nvSpPr>
        <p:spPr>
          <a:xfrm>
            <a:off x="640080" y="1630429"/>
            <a:ext cx="4635811" cy="409009"/>
          </a:xfrm>
          <a:prstGeom prst="rect">
            <a:avLst/>
          </a:prstGeom>
          <a:solidFill>
            <a:srgbClr val="1A4D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 dirty="0">
                <a:solidFill>
                  <a:schemeClr val="bg1"/>
                </a:solidFill>
                <a:latin typeface="Aptos" panose="020B0004020202020204" pitchFamily="34" charset="0"/>
              </a:rPr>
              <a:t>In/Out Degree Distribution by Node Category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8D67D766-D6C9-74AA-302D-530733EBF2D3}"/>
              </a:ext>
            </a:extLst>
          </p:cNvPr>
          <p:cNvSpPr txBox="1"/>
          <p:nvPr/>
        </p:nvSpPr>
        <p:spPr>
          <a:xfrm>
            <a:off x="6046839" y="2656184"/>
            <a:ext cx="4965432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GB" sz="1400" b="1" i="0" u="none" strike="noStrike" cap="none" normalizeH="0" baseline="0" dirty="0">
                <a:ln>
                  <a:noFill/>
                </a:ln>
                <a:solidFill>
                  <a:srgbClr val="70B6E6"/>
                </a:solidFill>
                <a:effectLst/>
                <a:latin typeface="Aptos" panose="020B0004020202020204" pitchFamily="34" charset="0"/>
              </a:rPr>
              <a:t>78.6% Pure Destination</a:t>
            </a:r>
            <a:r>
              <a:rPr lang="en-GB" sz="1400" b="1" dirty="0">
                <a:solidFill>
                  <a:srgbClr val="70B6E6"/>
                </a:solidFill>
                <a:latin typeface="Aptos" panose="020B0004020202020204" pitchFamily="34" charset="0"/>
              </a:rPr>
              <a:t>:</a:t>
            </a:r>
            <a:r>
              <a:rPr kumimoji="0" lang="en-GB" sz="1400" b="1" i="0" u="none" strike="noStrike" cap="none" normalizeH="0" baseline="0" dirty="0">
                <a:ln>
                  <a:noFill/>
                </a:ln>
                <a:solidFill>
                  <a:srgbClr val="70B6E6"/>
                </a:solidFill>
                <a:effectLst/>
                <a:latin typeface="Aptos" panose="020B0004020202020204" pitchFamily="34" charset="0"/>
              </a:rPr>
              <a:t> nodes that only receive traffic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C9541BF0-7AF2-7057-6A3F-078295F20824}"/>
              </a:ext>
            </a:extLst>
          </p:cNvPr>
          <p:cNvSpPr txBox="1"/>
          <p:nvPr/>
        </p:nvSpPr>
        <p:spPr>
          <a:xfrm>
            <a:off x="6065019" y="3301691"/>
            <a:ext cx="4965432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GB" sz="1400" b="1" i="0" u="none" strike="noStrike" cap="none" normalizeH="0" baseline="0" dirty="0">
                <a:ln>
                  <a:noFill/>
                </a:ln>
                <a:solidFill>
                  <a:srgbClr val="6CDC9C"/>
                </a:solidFill>
                <a:effectLst/>
                <a:latin typeface="Aptos" panose="020B0004020202020204" pitchFamily="34" charset="0"/>
              </a:rPr>
              <a:t>16.6% Light Bidirectional</a:t>
            </a:r>
            <a:r>
              <a:rPr lang="en-GB" sz="1400" b="1" dirty="0">
                <a:solidFill>
                  <a:srgbClr val="6CDC9C"/>
                </a:solidFill>
                <a:latin typeface="Aptos" panose="020B0004020202020204" pitchFamily="34" charset="0"/>
              </a:rPr>
              <a:t>: </a:t>
            </a:r>
            <a:r>
              <a:rPr kumimoji="0" lang="en-GB" sz="1400" b="1" i="0" u="none" strike="noStrike" cap="none" normalizeH="0" baseline="0" dirty="0">
                <a:ln>
                  <a:noFill/>
                </a:ln>
                <a:solidFill>
                  <a:srgbClr val="6CDC9C"/>
                </a:solidFill>
                <a:effectLst/>
                <a:latin typeface="Aptos" panose="020B0004020202020204" pitchFamily="34" charset="0"/>
              </a:rPr>
              <a:t>nodes that both send and receive 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AB5E6328-BB77-794D-BB04-86AB0C9B311E}"/>
              </a:ext>
            </a:extLst>
          </p:cNvPr>
          <p:cNvSpPr txBox="1"/>
          <p:nvPr/>
        </p:nvSpPr>
        <p:spPr>
          <a:xfrm>
            <a:off x="6096000" y="3924719"/>
            <a:ext cx="4965432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GB" sz="1400" b="1" i="0" u="none" strike="noStrike" cap="none" normalizeH="0" baseline="0" dirty="0">
                <a:ln>
                  <a:noFill/>
                </a:ln>
                <a:solidFill>
                  <a:srgbClr val="EF8176"/>
                </a:solidFill>
                <a:effectLst/>
                <a:latin typeface="Aptos" panose="020B0004020202020204" pitchFamily="34" charset="0"/>
              </a:rPr>
              <a:t>2.9% Hub: high-degree nodes concentrating most traffic 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3D4FF3F2-7B50-8A24-1F3D-9AA9C1A851A9}"/>
              </a:ext>
            </a:extLst>
          </p:cNvPr>
          <p:cNvSpPr txBox="1"/>
          <p:nvPr/>
        </p:nvSpPr>
        <p:spPr>
          <a:xfrm>
            <a:off x="6097098" y="4476094"/>
            <a:ext cx="4965432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GB" sz="1400" b="1" i="0" u="none" strike="noStrike" cap="none" normalizeH="0" baseline="0" dirty="0">
                <a:ln>
                  <a:noFill/>
                </a:ln>
                <a:solidFill>
                  <a:srgbClr val="F7B959"/>
                </a:solidFill>
                <a:effectLst/>
                <a:latin typeface="Aptos" panose="020B0004020202020204" pitchFamily="34" charset="0"/>
              </a:rPr>
              <a:t>2.0% Pure Source: nodes that only send traffic</a:t>
            </a:r>
          </a:p>
        </p:txBody>
      </p:sp>
    </p:spTree>
    <p:extLst>
      <p:ext uri="{BB962C8B-B14F-4D97-AF65-F5344CB8AC3E}">
        <p14:creationId xmlns:p14="http://schemas.microsoft.com/office/powerpoint/2010/main" val="22480734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5AF86A-F55D-67D0-7023-3832271B1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4675850-A715-FC1A-C30D-4CB25978E984}"/>
              </a:ext>
            </a:extLst>
          </p:cNvPr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GB" sz="1200" b="1" kern="0" spc="200" dirty="0">
                <a:solidFill>
                  <a:srgbClr val="58A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CHAPTER 4 · NETWORK TOPOLOGY</a:t>
            </a:r>
            <a:endParaRPr lang="en-GB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07E11A6-0D11-81D2-8021-A5C0B8E84CE3}"/>
              </a:ext>
            </a:extLst>
          </p:cNvPr>
          <p:cNvSpPr/>
          <p:nvPr/>
        </p:nvSpPr>
        <p:spPr>
          <a:xfrm>
            <a:off x="640080" y="658368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3200" b="1" dirty="0">
                <a:solidFill>
                  <a:srgbClr val="1A4D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Hub vs Attacks</a:t>
            </a:r>
            <a:endParaRPr lang="en-GB" sz="3200" dirty="0">
              <a:solidFill>
                <a:srgbClr val="1A4D8C"/>
              </a:solidFill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F94BF8A7-CB5E-8112-D2E0-B9490B933F37}"/>
              </a:ext>
            </a:extLst>
          </p:cNvPr>
          <p:cNvSpPr/>
          <p:nvPr/>
        </p:nvSpPr>
        <p:spPr>
          <a:xfrm>
            <a:off x="0" y="6473952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GB" sz="900" dirty="0">
                <a:solidFill>
                  <a:srgbClr val="8B94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 Environments</a:t>
            </a:r>
            <a:endParaRPr lang="en-GB" sz="9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47EDC959-0AD4-0D45-E2CC-C864F71990B1}"/>
              </a:ext>
            </a:extLst>
          </p:cNvPr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GB" sz="900" dirty="0">
                <a:solidFill>
                  <a:srgbClr val="8B94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Context-Aware IoT Anomaly Detection</a:t>
            </a:r>
            <a:endParaRPr lang="en-GB" sz="9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79F9A44B-2571-A9C3-719F-CF6B835A5296}"/>
              </a:ext>
            </a:extLst>
          </p:cNvPr>
          <p:cNvSpPr/>
          <p:nvPr/>
        </p:nvSpPr>
        <p:spPr>
          <a:xfrm>
            <a:off x="630934" y="5484963"/>
            <a:ext cx="1030528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GB" sz="1400" b="1" dirty="0">
                <a:solidFill>
                  <a:srgbClr val="1A4D8C"/>
                </a:solidFill>
                <a:latin typeface="Aptos" panose="020B0004020202020204" pitchFamily="34" charset="0"/>
              </a:rPr>
              <a:t>Hub nodes (top 10% by degree) show an anomaly rate of 70.7% vs 8.5% for non-hubs, 8x more likely to be involved in an attack. </a:t>
            </a:r>
            <a:r>
              <a:rPr lang="en-GB" sz="1400" b="1" noProof="1">
                <a:solidFill>
                  <a:srgbClr val="1A4D8C"/>
                </a:solidFill>
                <a:latin typeface="Aptos" panose="020B0004020202020204" pitchFamily="34" charset="0"/>
              </a:rPr>
              <a:t>Consistent with Barabási-Albert scale-free network theory: high-degree nodes are preferential targets.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C4EA05EF-B1C0-F26B-770A-A0E66BFEEF7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959" b="1"/>
          <a:stretch>
            <a:fillRect/>
          </a:stretch>
        </p:blipFill>
        <p:spPr>
          <a:xfrm>
            <a:off x="640080" y="1328840"/>
            <a:ext cx="10305289" cy="4156123"/>
          </a:xfrm>
          <a:prstGeom prst="rect">
            <a:avLst/>
          </a:prstGeom>
        </p:spPr>
      </p:pic>
      <p:sp>
        <p:nvSpPr>
          <p:cNvPr id="10" name="Text 18">
            <a:extLst>
              <a:ext uri="{FF2B5EF4-FFF2-40B4-BE49-F238E27FC236}">
                <a16:creationId xmlns:a16="http://schemas.microsoft.com/office/drawing/2014/main" id="{F7041B11-9B48-1EAB-2673-95CC4B807473}"/>
              </a:ext>
            </a:extLst>
          </p:cNvPr>
          <p:cNvSpPr/>
          <p:nvPr/>
        </p:nvSpPr>
        <p:spPr>
          <a:xfrm>
            <a:off x="9670667" y="6473952"/>
            <a:ext cx="18809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GB" sz="900" dirty="0">
                <a:solidFill>
                  <a:srgbClr val="8B949E"/>
                </a:solidFill>
                <a:latin typeface="Aptos" pitchFamily="34" charset="0"/>
              </a:rPr>
              <a:t>13</a:t>
            </a:r>
            <a:endParaRPr lang="en-GB" sz="900" dirty="0"/>
          </a:p>
        </p:txBody>
      </p:sp>
    </p:spTree>
    <p:extLst>
      <p:ext uri="{BB962C8B-B14F-4D97-AF65-F5344CB8AC3E}">
        <p14:creationId xmlns:p14="http://schemas.microsoft.com/office/powerpoint/2010/main" val="27752725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6D35E6-87BB-F4A0-D98B-1FAD9F6CC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8E8D304-C82A-147C-3A19-6D4B29F70206}"/>
              </a:ext>
            </a:extLst>
          </p:cNvPr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GB" sz="1200" b="1" kern="0" spc="200" dirty="0">
                <a:solidFill>
                  <a:srgbClr val="58A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CHAPTER 4 · NETWORK TOPOLOGY</a:t>
            </a:r>
            <a:endParaRPr lang="en-GB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E9C17E4-9766-9AF6-E0E3-555E14EA8588}"/>
              </a:ext>
            </a:extLst>
          </p:cNvPr>
          <p:cNvSpPr/>
          <p:nvPr/>
        </p:nvSpPr>
        <p:spPr>
          <a:xfrm>
            <a:off x="640080" y="658368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3200" b="1" dirty="0">
                <a:solidFill>
                  <a:srgbClr val="1A4D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Attackers</a:t>
            </a:r>
            <a:endParaRPr lang="en-GB" sz="3200" dirty="0">
              <a:solidFill>
                <a:srgbClr val="1A4D8C"/>
              </a:solidFill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AE72593-297B-34B1-55F3-30673E9590BC}"/>
              </a:ext>
            </a:extLst>
          </p:cNvPr>
          <p:cNvSpPr/>
          <p:nvPr/>
        </p:nvSpPr>
        <p:spPr>
          <a:xfrm>
            <a:off x="0" y="6473952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GB" sz="900" dirty="0">
                <a:solidFill>
                  <a:srgbClr val="8B94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 Environments</a:t>
            </a:r>
            <a:endParaRPr lang="en-GB" sz="9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E7475ABE-828E-5974-36A1-36B776E7F31D}"/>
              </a:ext>
            </a:extLst>
          </p:cNvPr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GB" sz="900" dirty="0">
                <a:solidFill>
                  <a:srgbClr val="8B94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Context-Aware IoT Anomaly Detection</a:t>
            </a:r>
            <a:endParaRPr lang="en-GB" sz="900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61E5355F-AE07-F650-1391-7872EE1352A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447"/>
          <a:stretch>
            <a:fillRect/>
          </a:stretch>
        </p:blipFill>
        <p:spPr>
          <a:xfrm>
            <a:off x="640080" y="1435608"/>
            <a:ext cx="6839580" cy="4454851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68017F2C-937B-D16F-802E-C3B58B531BA8}"/>
              </a:ext>
            </a:extLst>
          </p:cNvPr>
          <p:cNvSpPr txBox="1"/>
          <p:nvPr/>
        </p:nvSpPr>
        <p:spPr>
          <a:xfrm>
            <a:off x="7479660" y="1974846"/>
            <a:ext cx="3634490" cy="337637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GB" b="1" dirty="0">
                <a:solidFill>
                  <a:srgbClr val="1A4D8C"/>
                </a:solidFill>
                <a:latin typeface="Aptos" panose="020B0004020202020204" pitchFamily="34" charset="0"/>
              </a:rPr>
              <a:t>In this figure all attacks originate from just 2 internal IPs (192.168.1.32 and 192.168.1.36), both hubs, with 100% of their outbound traffic anomalous.</a:t>
            </a:r>
          </a:p>
          <a:p>
            <a:pPr>
              <a:lnSpc>
                <a:spcPct val="150000"/>
              </a:lnSpc>
            </a:pPr>
            <a:r>
              <a:rPr lang="en-GB" b="1" dirty="0">
                <a:solidFill>
                  <a:srgbClr val="1A4D8C"/>
                </a:solidFill>
                <a:latin typeface="Aptos" panose="020B0004020202020204" pitchFamily="34" charset="0"/>
              </a:rPr>
              <a:t>A textbook pattern of compromised IoT devices performing lateral movement.</a:t>
            </a:r>
          </a:p>
        </p:txBody>
      </p:sp>
      <p:sp>
        <p:nvSpPr>
          <p:cNvPr id="8" name="Text 18">
            <a:extLst>
              <a:ext uri="{FF2B5EF4-FFF2-40B4-BE49-F238E27FC236}">
                <a16:creationId xmlns:a16="http://schemas.microsoft.com/office/drawing/2014/main" id="{E1D98AE8-8EF1-E4E2-CD32-8C735FC288F2}"/>
              </a:ext>
            </a:extLst>
          </p:cNvPr>
          <p:cNvSpPr/>
          <p:nvPr/>
        </p:nvSpPr>
        <p:spPr>
          <a:xfrm>
            <a:off x="9670667" y="6473952"/>
            <a:ext cx="18809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GB" sz="900" dirty="0">
                <a:solidFill>
                  <a:srgbClr val="8B94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GB" sz="900" dirty="0"/>
          </a:p>
        </p:txBody>
      </p:sp>
    </p:spTree>
    <p:extLst>
      <p:ext uri="{BB962C8B-B14F-4D97-AF65-F5344CB8AC3E}">
        <p14:creationId xmlns:p14="http://schemas.microsoft.com/office/powerpoint/2010/main" val="12894982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200" b="1" kern="0" spc="200" dirty="0">
                <a:solidFill>
                  <a:srgbClr val="58A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CHAPTER 4 · NETWORK SNAPSHOT</a:t>
            </a:r>
            <a:endParaRPr lang="en-GB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3200" b="1" dirty="0">
                <a:solidFill>
                  <a:srgbClr val="1A4D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Communities &amp; Anomalous Edges</a:t>
            </a:r>
            <a:endParaRPr lang="en-GB" sz="3200" dirty="0">
              <a:solidFill>
                <a:srgbClr val="1A4D8C"/>
              </a:solidFill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021" y="1482538"/>
            <a:ext cx="6455720" cy="46876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43142" y="1860393"/>
            <a:ext cx="40480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200000"/>
              </a:lnSpc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rgbClr val="1A4D8C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A single 2h window (27 Apr 2019), </a:t>
            </a:r>
            <a:r>
              <a:rPr lang="en-GB" sz="1400" b="1" dirty="0" err="1">
                <a:solidFill>
                  <a:srgbClr val="1A4D8C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colored</a:t>
            </a:r>
            <a:r>
              <a:rPr lang="en-GB" sz="1400" b="1" dirty="0">
                <a:solidFill>
                  <a:srgbClr val="1A4D8C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 by LPA community.</a:t>
            </a:r>
            <a:endParaRPr lang="en-GB" sz="1400" b="1" dirty="0">
              <a:solidFill>
                <a:srgbClr val="1A4D8C"/>
              </a:solidFill>
              <a:latin typeface="Aptos" panose="020B0004020202020204" pitchFamily="34" charset="0"/>
            </a:endParaRPr>
          </a:p>
          <a:p>
            <a:pPr marL="285750" indent="-285750">
              <a:lnSpc>
                <a:spcPct val="200000"/>
              </a:lnSpc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rgbClr val="1A4D8C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Anomalous edges (red) converge on a few central nodes.</a:t>
            </a:r>
            <a:endParaRPr lang="en-GB" sz="1400" b="1" dirty="0">
              <a:solidFill>
                <a:srgbClr val="1A4D8C"/>
              </a:solidFill>
              <a:latin typeface="Aptos" panose="020B0004020202020204" pitchFamily="34" charset="0"/>
            </a:endParaRPr>
          </a:p>
          <a:p>
            <a:pPr marL="285750" indent="-285750">
              <a:lnSpc>
                <a:spcPct val="200000"/>
              </a:lnSpc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rgbClr val="1A4D8C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Benign edges (grey) spread out to the periphery.</a:t>
            </a:r>
            <a:endParaRPr lang="en-GB" sz="1400" b="1" dirty="0">
              <a:solidFill>
                <a:srgbClr val="1A4D8C"/>
              </a:solidFill>
              <a:latin typeface="Aptos" panose="020B0004020202020204" pitchFamily="34" charset="0"/>
            </a:endParaRPr>
          </a:p>
          <a:p>
            <a:pPr marL="285750" indent="-285750">
              <a:lnSpc>
                <a:spcPct val="200000"/>
              </a:lnSpc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rgbClr val="1A4D8C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The attack pattern is concentrated, not diffuse so a strong hint of lateral movement.</a:t>
            </a:r>
            <a:endParaRPr lang="en-GB" sz="1400" b="1" dirty="0">
              <a:solidFill>
                <a:srgbClr val="1A4D8C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0" y="6473952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GB" sz="900" dirty="0">
                <a:solidFill>
                  <a:srgbClr val="8B94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 Environments</a:t>
            </a:r>
            <a:endParaRPr lang="en-GB" sz="900" dirty="0"/>
          </a:p>
        </p:txBody>
      </p:sp>
      <p:sp>
        <p:nvSpPr>
          <p:cNvPr id="8" name="Text 5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GB" sz="900" dirty="0">
                <a:solidFill>
                  <a:srgbClr val="8B94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Context-Aware IoT Anomaly Detection</a:t>
            </a:r>
            <a:endParaRPr lang="en-GB" sz="900" dirty="0"/>
          </a:p>
        </p:txBody>
      </p:sp>
      <p:sp>
        <p:nvSpPr>
          <p:cNvPr id="11" name="Text 18">
            <a:extLst>
              <a:ext uri="{FF2B5EF4-FFF2-40B4-BE49-F238E27FC236}">
                <a16:creationId xmlns:a16="http://schemas.microsoft.com/office/drawing/2014/main" id="{E80A2EAD-6817-0631-E90A-50B1F5874E30}"/>
              </a:ext>
            </a:extLst>
          </p:cNvPr>
          <p:cNvSpPr/>
          <p:nvPr/>
        </p:nvSpPr>
        <p:spPr>
          <a:xfrm>
            <a:off x="9670667" y="6473952"/>
            <a:ext cx="18809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GB" sz="900" dirty="0">
                <a:solidFill>
                  <a:srgbClr val="8B94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GB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200" b="1" kern="0" spc="200" dirty="0">
                <a:solidFill>
                  <a:srgbClr val="58A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CHAPTER 4 · LATERAL PROPAGATION</a:t>
            </a:r>
            <a:endParaRPr lang="en-GB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3200" b="1" dirty="0">
                <a:solidFill>
                  <a:srgbClr val="1A4D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Attack’s Footprint on Communities</a:t>
            </a:r>
            <a:endParaRPr lang="en-GB" sz="3200" dirty="0">
              <a:solidFill>
                <a:srgbClr val="1A4D8C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232" y="1611953"/>
            <a:ext cx="10911535" cy="1143000"/>
          </a:xfrm>
          <a:prstGeom prst="roundRect">
            <a:avLst>
              <a:gd name="adj" fmla="val 4762"/>
            </a:avLst>
          </a:prstGeom>
          <a:solidFill>
            <a:schemeClr val="bg1"/>
          </a:solidFill>
          <a:ln w="1905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5" name="Text 3"/>
          <p:cNvSpPr/>
          <p:nvPr/>
        </p:nvSpPr>
        <p:spPr>
          <a:xfrm>
            <a:off x="1005992" y="1611953"/>
            <a:ext cx="10149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sz="2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Communities collapse from </a:t>
            </a:r>
            <a:r>
              <a:rPr lang="en-GB" sz="3200" b="1" dirty="0">
                <a:solidFill>
                  <a:srgbClr val="58A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 → 11</a:t>
            </a:r>
            <a:r>
              <a:rPr lang="en-GB" sz="2800" dirty="0">
                <a:solidFill>
                  <a:srgbClr val="F0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GB" sz="2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during the attack</a:t>
            </a:r>
            <a:endParaRPr lang="en-GB" sz="2800" dirty="0">
              <a:solidFill>
                <a:srgbClr val="1F2937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1980862" y="2947110"/>
            <a:ext cx="6889858" cy="27943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  <a:spcAft>
                <a:spcPts val="800"/>
              </a:spcAft>
              <a:buSzPct val="100000"/>
            </a:pPr>
            <a:r>
              <a:rPr lang="en-GB" dirty="0">
                <a:solidFill>
                  <a:srgbClr val="1A4D8C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As the attack unfolds, separate communities merge and the network unifies under the attack traffic.</a:t>
            </a:r>
            <a:endParaRPr lang="en-GB" dirty="0">
              <a:solidFill>
                <a:srgbClr val="1A4D8C"/>
              </a:solidFill>
              <a:latin typeface="Aptos" panose="020B0004020202020204" pitchFamily="34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  <a:buSzPct val="100000"/>
            </a:pPr>
            <a:r>
              <a:rPr lang="en-GB" dirty="0">
                <a:solidFill>
                  <a:srgbClr val="1A4D8C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Anomalous edges stay in the internal-IP plane: the attack spreads from inside, not from outside.</a:t>
            </a:r>
          </a:p>
          <a:p>
            <a:pPr>
              <a:lnSpc>
                <a:spcPct val="150000"/>
              </a:lnSpc>
              <a:spcAft>
                <a:spcPts val="800"/>
              </a:spcAft>
              <a:buSzPct val="100000"/>
            </a:pPr>
            <a:r>
              <a:rPr lang="en-GB" dirty="0">
                <a:solidFill>
                  <a:srgbClr val="1A4D8C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Confirms lateral propagation between compromised internal devices.</a:t>
            </a:r>
            <a:endParaRPr lang="en-GB" dirty="0">
              <a:solidFill>
                <a:srgbClr val="1A4D8C"/>
              </a:solidFill>
              <a:latin typeface="Aptos" panose="020B00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40232" y="5784443"/>
            <a:ext cx="10911535" cy="566928"/>
          </a:xfrm>
          <a:prstGeom prst="roundRect">
            <a:avLst>
              <a:gd name="adj" fmla="val 16129"/>
            </a:avLst>
          </a:prstGeom>
          <a:solidFill>
            <a:schemeClr val="bg1"/>
          </a:solidFill>
          <a:ln w="1905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8" name="Text 6"/>
          <p:cNvSpPr/>
          <p:nvPr/>
        </p:nvSpPr>
        <p:spPr>
          <a:xfrm>
            <a:off x="914552" y="5784443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250" b="1" i="1" dirty="0">
                <a:solidFill>
                  <a:schemeClr val="bg2">
                    <a:lumMod val="2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▶  </a:t>
            </a:r>
            <a:r>
              <a:rPr lang="en-GB" sz="1250" i="1" dirty="0">
                <a:solidFill>
                  <a:schemeClr val="bg2">
                    <a:lumMod val="2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Video: Network__evolution_3d.mp4 in the next slide.</a:t>
            </a:r>
            <a:endParaRPr lang="en-GB" sz="125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0" y="6473952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GB" sz="900" dirty="0">
                <a:solidFill>
                  <a:srgbClr val="8B94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 Environments</a:t>
            </a:r>
            <a:endParaRPr lang="en-GB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GB" sz="900" dirty="0">
                <a:solidFill>
                  <a:srgbClr val="8B94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Context-Aware IoT Anomaly Detection</a:t>
            </a:r>
            <a:endParaRPr lang="en-GB" sz="900" dirty="0"/>
          </a:p>
        </p:txBody>
      </p:sp>
      <p:sp>
        <p:nvSpPr>
          <p:cNvPr id="12" name="Text 18">
            <a:extLst>
              <a:ext uri="{FF2B5EF4-FFF2-40B4-BE49-F238E27FC236}">
                <a16:creationId xmlns:a16="http://schemas.microsoft.com/office/drawing/2014/main" id="{E0C3F644-B72A-30FD-192F-43A2569797B9}"/>
              </a:ext>
            </a:extLst>
          </p:cNvPr>
          <p:cNvSpPr/>
          <p:nvPr/>
        </p:nvSpPr>
        <p:spPr>
          <a:xfrm>
            <a:off x="9670667" y="6473952"/>
            <a:ext cx="18809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GB" sz="900" dirty="0">
                <a:solidFill>
                  <a:srgbClr val="8B949E"/>
                </a:solidFill>
                <a:latin typeface="Aptos" pitchFamily="34" charset="0"/>
              </a:rPr>
              <a:t>16</a:t>
            </a:r>
            <a:endParaRPr lang="en-GB" sz="900" dirty="0"/>
          </a:p>
        </p:txBody>
      </p:sp>
      <p:sp>
        <p:nvSpPr>
          <p:cNvPr id="13" name="Freccia destra 12">
            <a:extLst>
              <a:ext uri="{FF2B5EF4-FFF2-40B4-BE49-F238E27FC236}">
                <a16:creationId xmlns:a16="http://schemas.microsoft.com/office/drawing/2014/main" id="{5DA9D4FA-726B-926F-B83D-6F0C6A2A23D5}"/>
              </a:ext>
            </a:extLst>
          </p:cNvPr>
          <p:cNvSpPr/>
          <p:nvPr/>
        </p:nvSpPr>
        <p:spPr>
          <a:xfrm>
            <a:off x="1123561" y="2947110"/>
            <a:ext cx="686795" cy="435057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" name="Freccia destra 13">
            <a:extLst>
              <a:ext uri="{FF2B5EF4-FFF2-40B4-BE49-F238E27FC236}">
                <a16:creationId xmlns:a16="http://schemas.microsoft.com/office/drawing/2014/main" id="{5045A6B1-4D0F-1BA9-9445-31E3B76B4E21}"/>
              </a:ext>
            </a:extLst>
          </p:cNvPr>
          <p:cNvSpPr/>
          <p:nvPr/>
        </p:nvSpPr>
        <p:spPr>
          <a:xfrm>
            <a:off x="1123561" y="3891327"/>
            <a:ext cx="686795" cy="435057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5" name="Freccia destra 14">
            <a:extLst>
              <a:ext uri="{FF2B5EF4-FFF2-40B4-BE49-F238E27FC236}">
                <a16:creationId xmlns:a16="http://schemas.microsoft.com/office/drawing/2014/main" id="{C775E737-CC4C-58B8-6B19-037CD819AAF6}"/>
              </a:ext>
            </a:extLst>
          </p:cNvPr>
          <p:cNvSpPr/>
          <p:nvPr/>
        </p:nvSpPr>
        <p:spPr>
          <a:xfrm>
            <a:off x="1123561" y="4810990"/>
            <a:ext cx="686795" cy="435057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network_evolution_3d">
            <a:hlinkClick r:id="" action="ppaction://media"/>
            <a:extLst>
              <a:ext uri="{FF2B5EF4-FFF2-40B4-BE49-F238E27FC236}">
                <a16:creationId xmlns:a16="http://schemas.microsoft.com/office/drawing/2014/main" id="{E7E4BD1C-0517-9D4A-1A0E-E339FBC7D08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020186" y="11194"/>
            <a:ext cx="7382540" cy="7630533"/>
          </a:xfrm>
          <a:prstGeom prst="rect">
            <a:avLst/>
          </a:prstGeom>
        </p:spPr>
      </p:pic>
      <p:sp>
        <p:nvSpPr>
          <p:cNvPr id="4" name="Text 18">
            <a:extLst>
              <a:ext uri="{FF2B5EF4-FFF2-40B4-BE49-F238E27FC236}">
                <a16:creationId xmlns:a16="http://schemas.microsoft.com/office/drawing/2014/main" id="{49312415-6C50-F505-58DD-B4BC4F76A02A}"/>
              </a:ext>
            </a:extLst>
          </p:cNvPr>
          <p:cNvSpPr/>
          <p:nvPr/>
        </p:nvSpPr>
        <p:spPr>
          <a:xfrm>
            <a:off x="9670667" y="6473952"/>
            <a:ext cx="18809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GB" sz="900" dirty="0">
                <a:solidFill>
                  <a:srgbClr val="8B94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GB" sz="900" dirty="0"/>
          </a:p>
        </p:txBody>
      </p:sp>
    </p:spTree>
    <p:extLst>
      <p:ext uri="{BB962C8B-B14F-4D97-AF65-F5344CB8AC3E}">
        <p14:creationId xmlns:p14="http://schemas.microsoft.com/office/powerpoint/2010/main" val="2238540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85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232" y="3840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200" b="1" kern="0" spc="200" dirty="0">
                <a:solidFill>
                  <a:srgbClr val="58A6FF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CHAPTER 5 · RESULTS (10 EPOCHS)</a:t>
            </a:r>
            <a:endParaRPr lang="en-GB" sz="1200" dirty="0">
              <a:latin typeface="Aptos" panose="020B00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3200" b="1" dirty="0">
                <a:solidFill>
                  <a:srgbClr val="1A4D8C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Comparative Results</a:t>
            </a:r>
            <a:endParaRPr lang="en-GB" sz="3200" dirty="0">
              <a:solidFill>
                <a:srgbClr val="1A4D8C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68680" y="18288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GB" sz="1200" dirty="0">
              <a:latin typeface="Aptos" panose="020B00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931920" y="18288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sz="1600" b="1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  <a:ea typeface="Aptos Mono" pitchFamily="34" charset="-122"/>
                <a:cs typeface="Aptos Mono" pitchFamily="34" charset="-120"/>
              </a:rPr>
              <a:t>AUC</a:t>
            </a:r>
            <a:endParaRPr lang="en-GB" sz="1600" dirty="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532120" y="18288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sz="1600" b="1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  <a:ea typeface="Aptos Mono" pitchFamily="34" charset="-122"/>
                <a:cs typeface="Aptos Mono" pitchFamily="34" charset="-120"/>
              </a:rPr>
              <a:t>Precision</a:t>
            </a:r>
            <a:endParaRPr lang="en-GB" sz="1600" dirty="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132320" y="18288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sz="1600" b="1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  <a:ea typeface="Aptos Mono" pitchFamily="34" charset="-122"/>
                <a:cs typeface="Aptos Mono" pitchFamily="34" charset="-120"/>
              </a:rPr>
              <a:t>Recall</a:t>
            </a:r>
            <a:endParaRPr lang="en-GB" sz="1600" dirty="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732520" y="18288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sz="1600" b="1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  <a:ea typeface="Aptos Mono" pitchFamily="34" charset="-122"/>
                <a:cs typeface="Aptos Mono" pitchFamily="34" charset="-120"/>
              </a:rPr>
              <a:t>F1</a:t>
            </a:r>
            <a:endParaRPr lang="en-GB" sz="1600" dirty="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332720" y="1828800"/>
            <a:ext cx="1216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sz="1600" b="1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  <a:ea typeface="Aptos Mono" pitchFamily="34" charset="-122"/>
                <a:cs typeface="Aptos Mono" pitchFamily="34" charset="-120"/>
              </a:rPr>
              <a:t>Accuracy</a:t>
            </a:r>
            <a:endParaRPr lang="en-GB" sz="1600" dirty="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40080" y="2331720"/>
            <a:ext cx="10911535" cy="749808"/>
          </a:xfrm>
          <a:prstGeom prst="roundRect">
            <a:avLst>
              <a:gd name="adj" fmla="val 12195"/>
            </a:avLst>
          </a:prstGeom>
          <a:solidFill>
            <a:schemeClr val="bg1"/>
          </a:solidFill>
          <a:ln w="1905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68680" y="2331720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GB" sz="2000" b="1" dirty="0">
                <a:solidFill>
                  <a:srgbClr val="3FB950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A · network</a:t>
            </a:r>
            <a:endParaRPr lang="en-GB" sz="2000" dirty="0">
              <a:latin typeface="Aptos" panose="020B00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931920" y="2331720"/>
            <a:ext cx="1600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sz="1400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  <a:ea typeface="Aptos Mono" pitchFamily="34" charset="-122"/>
                <a:cs typeface="Aptos Mono" pitchFamily="34" charset="-120"/>
              </a:rPr>
              <a:t>0.999</a:t>
            </a:r>
            <a:endParaRPr lang="en-GB" sz="1400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532120" y="2331720"/>
            <a:ext cx="1600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sz="1400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  <a:ea typeface="Aptos Mono" pitchFamily="34" charset="-122"/>
                <a:cs typeface="Aptos Mono" pitchFamily="34" charset="-120"/>
              </a:rPr>
              <a:t>0.996</a:t>
            </a:r>
            <a:endParaRPr lang="en-GB" sz="1400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132320" y="2331720"/>
            <a:ext cx="1600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sz="1400" b="1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  <a:ea typeface="Aptos Mono" pitchFamily="34" charset="-122"/>
                <a:cs typeface="Aptos Mono" pitchFamily="34" charset="-120"/>
              </a:rPr>
              <a:t>0.986</a:t>
            </a:r>
            <a:endParaRPr lang="en-GB" sz="1400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732520" y="2331720"/>
            <a:ext cx="1600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sz="1400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  <a:ea typeface="Aptos Mono" pitchFamily="34" charset="-122"/>
                <a:cs typeface="Aptos Mono" pitchFamily="34" charset="-120"/>
              </a:rPr>
              <a:t>0.991</a:t>
            </a:r>
            <a:endParaRPr lang="en-GB" sz="1400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0332720" y="2331720"/>
            <a:ext cx="1216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sz="1400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  <a:ea typeface="Aptos Mono" pitchFamily="34" charset="-122"/>
                <a:cs typeface="Aptos Mono" pitchFamily="34" charset="-120"/>
              </a:rPr>
              <a:t>0.990</a:t>
            </a:r>
            <a:endParaRPr lang="en-GB" sz="1400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40080" y="3136392"/>
            <a:ext cx="10911535" cy="749808"/>
          </a:xfrm>
          <a:prstGeom prst="roundRect">
            <a:avLst>
              <a:gd name="adj" fmla="val 12195"/>
            </a:avLst>
          </a:prstGeom>
          <a:solidFill>
            <a:schemeClr val="bg1"/>
          </a:solidFill>
          <a:ln w="1905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68680" y="3136392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GB" sz="2000" b="1" dirty="0">
                <a:solidFill>
                  <a:srgbClr val="F0883E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B · network + context</a:t>
            </a:r>
            <a:endParaRPr lang="en-GB" sz="2000" dirty="0">
              <a:latin typeface="Aptos" panose="020B00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931920" y="3136392"/>
            <a:ext cx="1600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sz="1400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  <a:ea typeface="Aptos Mono" pitchFamily="34" charset="-122"/>
                <a:cs typeface="Aptos Mono" pitchFamily="34" charset="-120"/>
              </a:rPr>
              <a:t>0.986</a:t>
            </a:r>
            <a:endParaRPr lang="en-GB" sz="1400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532120" y="3136392"/>
            <a:ext cx="1600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sz="1400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  <a:ea typeface="Aptos Mono" pitchFamily="34" charset="-122"/>
                <a:cs typeface="Aptos Mono" pitchFamily="34" charset="-120"/>
              </a:rPr>
              <a:t>0.979</a:t>
            </a:r>
            <a:endParaRPr lang="en-GB" sz="1400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132320" y="3136392"/>
            <a:ext cx="1600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sz="1400" b="1" dirty="0">
                <a:solidFill>
                  <a:srgbClr val="F85149"/>
                </a:solidFill>
                <a:latin typeface="Aptos" panose="020B0004020202020204" pitchFamily="34" charset="0"/>
                <a:ea typeface="Aptos Mono" pitchFamily="34" charset="-122"/>
                <a:cs typeface="Aptos Mono" pitchFamily="34" charset="-120"/>
              </a:rPr>
              <a:t>0.401</a:t>
            </a:r>
            <a:endParaRPr lang="en-GB" sz="1400" dirty="0">
              <a:latin typeface="Aptos" panose="020B00040202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732520" y="3136392"/>
            <a:ext cx="1600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sz="1400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  <a:ea typeface="Aptos Mono" pitchFamily="34" charset="-122"/>
                <a:cs typeface="Aptos Mono" pitchFamily="34" charset="-120"/>
              </a:rPr>
              <a:t>0.569</a:t>
            </a:r>
            <a:endParaRPr lang="en-GB" sz="1400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0332720" y="3136392"/>
            <a:ext cx="1216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sz="1400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  <a:ea typeface="Aptos Mono" pitchFamily="34" charset="-122"/>
                <a:cs typeface="Aptos Mono" pitchFamily="34" charset="-120"/>
              </a:rPr>
              <a:t>0.648</a:t>
            </a:r>
            <a:endParaRPr lang="en-GB" sz="1400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40080" y="3941064"/>
            <a:ext cx="10911535" cy="749808"/>
          </a:xfrm>
          <a:prstGeom prst="roundRect">
            <a:avLst>
              <a:gd name="adj" fmla="val 12195"/>
            </a:avLst>
          </a:prstGeom>
          <a:solidFill>
            <a:schemeClr val="bg1"/>
          </a:solidFill>
          <a:ln w="1905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868680" y="3941064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GB" sz="2000" b="1" dirty="0">
                <a:solidFill>
                  <a:srgbClr val="0070C0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C · network + knowledge</a:t>
            </a:r>
            <a:endParaRPr lang="en-GB" sz="2000" dirty="0">
              <a:solidFill>
                <a:srgbClr val="0070C0"/>
              </a:solidFill>
              <a:latin typeface="Aptos" panose="020B000402020202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3931920" y="3941064"/>
            <a:ext cx="1600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sz="1400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  <a:ea typeface="Aptos Mono" pitchFamily="34" charset="-122"/>
                <a:cs typeface="Aptos Mono" pitchFamily="34" charset="-120"/>
              </a:rPr>
              <a:t>0.999</a:t>
            </a:r>
            <a:endParaRPr lang="en-GB" sz="1400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532120" y="3941064"/>
            <a:ext cx="1600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sz="1400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  <a:ea typeface="Aptos Mono" pitchFamily="34" charset="-122"/>
                <a:cs typeface="Aptos Mono" pitchFamily="34" charset="-120"/>
              </a:rPr>
              <a:t>0.999</a:t>
            </a:r>
            <a:endParaRPr lang="en-GB" sz="1400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7132320" y="3941064"/>
            <a:ext cx="1600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sz="1400" b="1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  <a:ea typeface="Aptos Mono" pitchFamily="34" charset="-122"/>
                <a:cs typeface="Aptos Mono" pitchFamily="34" charset="-120"/>
              </a:rPr>
              <a:t>0.982</a:t>
            </a:r>
            <a:endParaRPr lang="en-GB" sz="1400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8732520" y="3941064"/>
            <a:ext cx="1600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sz="1400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  <a:ea typeface="Aptos Mono" pitchFamily="34" charset="-122"/>
                <a:cs typeface="Aptos Mono" pitchFamily="34" charset="-120"/>
              </a:rPr>
              <a:t>0.991</a:t>
            </a:r>
            <a:endParaRPr lang="en-GB" sz="1400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10332720" y="3941064"/>
            <a:ext cx="1216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sz="1400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  <a:ea typeface="Aptos Mono" pitchFamily="34" charset="-122"/>
                <a:cs typeface="Aptos Mono" pitchFamily="34" charset="-120"/>
              </a:rPr>
              <a:t>0.989</a:t>
            </a:r>
            <a:endParaRPr lang="en-GB" sz="1400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40080" y="4745736"/>
            <a:ext cx="10911535" cy="749808"/>
          </a:xfrm>
          <a:prstGeom prst="roundRect">
            <a:avLst>
              <a:gd name="adj" fmla="val 12195"/>
            </a:avLst>
          </a:prstGeom>
          <a:solidFill>
            <a:schemeClr val="bg1"/>
          </a:solidFill>
          <a:ln w="19050">
            <a:solidFill>
              <a:srgbClr val="EF8176"/>
            </a:solidFill>
            <a:prstDash val="solid"/>
          </a:ln>
        </p:spPr>
        <p:txBody>
          <a:bodyPr/>
          <a:lstStyle/>
          <a:p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868680" y="4745736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GB" sz="2000" b="1" dirty="0">
                <a:solidFill>
                  <a:srgbClr val="EF8176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D · all three</a:t>
            </a:r>
            <a:endParaRPr lang="en-GB" sz="2000" dirty="0">
              <a:solidFill>
                <a:srgbClr val="EF8176"/>
              </a:solidFill>
              <a:latin typeface="Aptos" panose="020B000402020202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3931920" y="4745736"/>
            <a:ext cx="1600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sz="1400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  <a:ea typeface="Aptos Mono" pitchFamily="34" charset="-122"/>
                <a:cs typeface="Aptos Mono" pitchFamily="34" charset="-120"/>
              </a:rPr>
              <a:t>0.965</a:t>
            </a:r>
            <a:endParaRPr lang="en-GB" sz="1400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5532120" y="4745736"/>
            <a:ext cx="1600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sz="1400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  <a:ea typeface="Aptos Mono" pitchFamily="34" charset="-122"/>
                <a:cs typeface="Aptos Mono" pitchFamily="34" charset="-120"/>
              </a:rPr>
              <a:t>0.986</a:t>
            </a:r>
            <a:endParaRPr lang="en-GB" sz="1400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7132320" y="4745736"/>
            <a:ext cx="1600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sz="1400" b="1" dirty="0">
                <a:solidFill>
                  <a:srgbClr val="F85149"/>
                </a:solidFill>
                <a:latin typeface="Aptos" panose="020B0004020202020204" pitchFamily="34" charset="0"/>
                <a:ea typeface="Aptos Mono" pitchFamily="34" charset="-122"/>
                <a:cs typeface="Aptos Mono" pitchFamily="34" charset="-120"/>
              </a:rPr>
              <a:t>0.409</a:t>
            </a:r>
            <a:endParaRPr lang="en-GB" sz="1400" dirty="0">
              <a:latin typeface="Aptos" panose="020B0004020202020204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8732520" y="4745736"/>
            <a:ext cx="1600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sz="1400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  <a:ea typeface="Aptos Mono" pitchFamily="34" charset="-122"/>
                <a:cs typeface="Aptos Mono" pitchFamily="34" charset="-120"/>
              </a:rPr>
              <a:t>0.578</a:t>
            </a:r>
            <a:endParaRPr lang="en-GB" sz="1400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10332720" y="4745736"/>
            <a:ext cx="1216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sz="1400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  <a:ea typeface="Aptos Mono" pitchFamily="34" charset="-122"/>
                <a:cs typeface="Aptos Mono" pitchFamily="34" charset="-120"/>
              </a:rPr>
              <a:t>0.654</a:t>
            </a:r>
            <a:endParaRPr lang="en-GB" sz="1400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2240280" y="5715000"/>
            <a:ext cx="8092440" cy="325056"/>
          </a:xfrm>
          <a:prstGeom prst="roundRect">
            <a:avLst>
              <a:gd name="adj" fmla="val 17241"/>
            </a:avLst>
          </a:prstGeom>
          <a:solidFill>
            <a:schemeClr val="bg1"/>
          </a:solidFill>
          <a:ln w="1905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2514599" y="5696712"/>
            <a:ext cx="7730983" cy="33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250" b="1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Key finding:  </a:t>
            </a:r>
            <a:r>
              <a:rPr lang="en-GB" sz="1250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A and C reach ~99% across the board; B and D crash on Recall (~0.40), so they miss most attacks.</a:t>
            </a:r>
            <a:endParaRPr lang="en-GB" sz="1250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0" y="6473952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GB" sz="900" dirty="0">
                <a:solidFill>
                  <a:srgbClr val="8B949E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Smart Environments</a:t>
            </a:r>
            <a:endParaRPr lang="en-GB" sz="900" dirty="0">
              <a:latin typeface="Aptos" panose="020B0004020202020204" pitchFamily="34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GB" sz="900" dirty="0">
                <a:solidFill>
                  <a:srgbClr val="8B949E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Context-Aware IoT Anomaly Detection</a:t>
            </a:r>
            <a:endParaRPr lang="en-GB" sz="900" dirty="0">
              <a:latin typeface="Aptos" panose="020B0004020202020204" pitchFamily="34" charset="0"/>
            </a:endParaRPr>
          </a:p>
        </p:txBody>
      </p:sp>
      <p:sp>
        <p:nvSpPr>
          <p:cNvPr id="44" name="Text 18">
            <a:extLst>
              <a:ext uri="{FF2B5EF4-FFF2-40B4-BE49-F238E27FC236}">
                <a16:creationId xmlns:a16="http://schemas.microsoft.com/office/drawing/2014/main" id="{3291095B-C2CF-6DF6-2A53-196262B02F45}"/>
              </a:ext>
            </a:extLst>
          </p:cNvPr>
          <p:cNvSpPr/>
          <p:nvPr/>
        </p:nvSpPr>
        <p:spPr>
          <a:xfrm>
            <a:off x="9670667" y="6473952"/>
            <a:ext cx="18809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GB" sz="900" dirty="0">
                <a:solidFill>
                  <a:srgbClr val="8B949E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GB" sz="90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200" b="1" kern="0" spc="200" noProof="1">
                <a:solidFill>
                  <a:srgbClr val="58A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CHAPTER 5 · TWO CLEAR GROUPS</a:t>
            </a:r>
            <a:endParaRPr lang="en-GB" sz="1200" noProof="1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3200" b="1" noProof="1">
                <a:solidFill>
                  <a:srgbClr val="1A4D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Comparative Visualization</a:t>
            </a:r>
            <a:endParaRPr lang="en-GB" sz="3200" noProof="1">
              <a:solidFill>
                <a:srgbClr val="1A4D8C"/>
              </a:solidFill>
            </a:endParaRPr>
          </a:p>
        </p:txBody>
      </p:sp>
      <p:sp>
        <p:nvSpPr>
          <p:cNvPr id="9" name="Text 5"/>
          <p:cNvSpPr/>
          <p:nvPr/>
        </p:nvSpPr>
        <p:spPr>
          <a:xfrm>
            <a:off x="0" y="6473952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GB" sz="900" noProof="1">
                <a:solidFill>
                  <a:srgbClr val="8B94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 Environments</a:t>
            </a:r>
            <a:endParaRPr lang="en-GB" sz="900" noProof="1"/>
          </a:p>
        </p:txBody>
      </p:sp>
      <p:sp>
        <p:nvSpPr>
          <p:cNvPr id="10" name="Text 6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GB" sz="900" noProof="1">
                <a:solidFill>
                  <a:srgbClr val="8B94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Context-Aware IoT Anomaly Detection</a:t>
            </a:r>
            <a:endParaRPr lang="en-GB" sz="900" noProof="1"/>
          </a:p>
        </p:txBody>
      </p:sp>
      <p:sp>
        <p:nvSpPr>
          <p:cNvPr id="14" name="Text 18">
            <a:extLst>
              <a:ext uri="{FF2B5EF4-FFF2-40B4-BE49-F238E27FC236}">
                <a16:creationId xmlns:a16="http://schemas.microsoft.com/office/drawing/2014/main" id="{DB03D93D-2665-7AD7-418E-6384BE699CBC}"/>
              </a:ext>
            </a:extLst>
          </p:cNvPr>
          <p:cNvSpPr/>
          <p:nvPr/>
        </p:nvSpPr>
        <p:spPr>
          <a:xfrm>
            <a:off x="9670667" y="6473952"/>
            <a:ext cx="18809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GB" sz="900" dirty="0">
                <a:solidFill>
                  <a:srgbClr val="8B94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GB" sz="900" dirty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747C8EE5-C938-7B09-8DF0-AA3333236D0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1389782"/>
            <a:ext cx="10430491" cy="4352755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806A0A35-259F-B030-0CC5-C4231CA725A7}"/>
              </a:ext>
            </a:extLst>
          </p:cNvPr>
          <p:cNvSpPr txBox="1"/>
          <p:nvPr/>
        </p:nvSpPr>
        <p:spPr>
          <a:xfrm>
            <a:off x="1368213" y="5830300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276BEB"/>
                </a:solidFill>
                <a:latin typeface="Aptos" panose="020B0004020202020204" pitchFamily="34" charset="0"/>
              </a:rPr>
              <a:t>Configuration A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23CBC839-F291-89B6-AE8D-8F5546E1B97E}"/>
              </a:ext>
            </a:extLst>
          </p:cNvPr>
          <p:cNvSpPr txBox="1"/>
          <p:nvPr/>
        </p:nvSpPr>
        <p:spPr>
          <a:xfrm>
            <a:off x="3654213" y="5833933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F27D06"/>
                </a:solidFill>
                <a:latin typeface="Aptos" panose="020B0004020202020204" pitchFamily="34" charset="0"/>
              </a:rPr>
              <a:t>Configuration B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2D91D137-807F-C81E-6B7E-3322580DB85E}"/>
              </a:ext>
            </a:extLst>
          </p:cNvPr>
          <p:cNvSpPr txBox="1"/>
          <p:nvPr/>
        </p:nvSpPr>
        <p:spPr>
          <a:xfrm>
            <a:off x="5940213" y="5830300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08AB47"/>
                </a:solidFill>
                <a:latin typeface="Aptos" panose="020B0004020202020204" pitchFamily="34" charset="0"/>
              </a:rPr>
              <a:t>Configuration C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A8E0A269-520E-24B9-09FA-2347D98D26D3}"/>
              </a:ext>
            </a:extLst>
          </p:cNvPr>
          <p:cNvSpPr txBox="1"/>
          <p:nvPr/>
        </p:nvSpPr>
        <p:spPr>
          <a:xfrm>
            <a:off x="8226213" y="5833933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BB5413"/>
                </a:solidFill>
                <a:latin typeface="Aptos" panose="020B0004020202020204" pitchFamily="34" charset="0"/>
              </a:rPr>
              <a:t>Configuration 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200" b="1" kern="0" spc="200" dirty="0">
                <a:solidFill>
                  <a:srgbClr val="58A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CHAPTER 5 · INTERPRETATION</a:t>
            </a:r>
            <a:endParaRPr lang="en-GB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3200" b="1" dirty="0">
                <a:solidFill>
                  <a:srgbClr val="1A4D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Results Mean</a:t>
            </a:r>
            <a:endParaRPr lang="en-GB" sz="3200" dirty="0">
              <a:solidFill>
                <a:srgbClr val="1A4D8C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49240" cy="3221182"/>
          </a:xfrm>
          <a:prstGeom prst="roundRect">
            <a:avLst>
              <a:gd name="adj" fmla="val 2174"/>
            </a:avLst>
          </a:prstGeom>
          <a:solidFill>
            <a:schemeClr val="bg1"/>
          </a:solidFill>
          <a:ln w="1905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5" name="Text 3"/>
          <p:cNvSpPr/>
          <p:nvPr/>
        </p:nvSpPr>
        <p:spPr>
          <a:xfrm>
            <a:off x="960120" y="193852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2400" b="1" dirty="0">
                <a:solidFill>
                  <a:srgbClr val="3FB9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A &amp; C win</a:t>
            </a:r>
            <a:endParaRPr lang="en-GB" sz="2400" dirty="0"/>
          </a:p>
        </p:txBody>
      </p:sp>
      <p:sp>
        <p:nvSpPr>
          <p:cNvPr id="6" name="Text 4"/>
          <p:cNvSpPr/>
          <p:nvPr/>
        </p:nvSpPr>
        <p:spPr>
          <a:xfrm>
            <a:off x="960120" y="2468880"/>
            <a:ext cx="4846320" cy="2313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GB" dirty="0">
                <a:solidFill>
                  <a:schemeClr val="bg2">
                    <a:lumMod val="2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Communication features alone (A) already separate benign from attack traffic very well.</a:t>
            </a:r>
            <a:endParaRPr lang="en-GB" dirty="0">
              <a:solidFill>
                <a:schemeClr val="bg2">
                  <a:lumMod val="25000"/>
                </a:schemeClr>
              </a:solidFill>
            </a:endParaRPr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GB" dirty="0">
                <a:solidFill>
                  <a:schemeClr val="bg2">
                    <a:lumMod val="2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Knowledge features (C) (TCP flags, segment sizes) add complementary, discriminative signal.</a:t>
            </a:r>
            <a:endParaRPr lang="en-GB" dirty="0">
              <a:solidFill>
                <a:schemeClr val="bg2">
                  <a:lumMod val="25000"/>
                </a:schemeClr>
              </a:solidFill>
            </a:endParaRPr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GB" b="1" dirty="0">
                <a:solidFill>
                  <a:srgbClr val="3FB9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Both keep high Recall: they catch the attacks.</a:t>
            </a:r>
            <a:endParaRPr lang="en-GB" dirty="0"/>
          </a:p>
        </p:txBody>
      </p:sp>
      <p:sp>
        <p:nvSpPr>
          <p:cNvPr id="7" name="Shape 5"/>
          <p:cNvSpPr/>
          <p:nvPr/>
        </p:nvSpPr>
        <p:spPr>
          <a:xfrm>
            <a:off x="6202682" y="1783080"/>
            <a:ext cx="5239512" cy="3221182"/>
          </a:xfrm>
          <a:prstGeom prst="roundRect">
            <a:avLst>
              <a:gd name="adj" fmla="val 2174"/>
            </a:avLst>
          </a:prstGeom>
          <a:solidFill>
            <a:schemeClr val="bg1"/>
          </a:solidFill>
          <a:ln w="1905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8" name="Text 6"/>
          <p:cNvSpPr/>
          <p:nvPr/>
        </p:nvSpPr>
        <p:spPr>
          <a:xfrm>
            <a:off x="6477002" y="1938528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2400" b="1" dirty="0">
                <a:solidFill>
                  <a:srgbClr val="F088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B &amp; D struggle</a:t>
            </a:r>
            <a:endParaRPr lang="en-GB" sz="2400" dirty="0"/>
          </a:p>
        </p:txBody>
      </p:sp>
      <p:sp>
        <p:nvSpPr>
          <p:cNvPr id="9" name="Text 7"/>
          <p:cNvSpPr/>
          <p:nvPr/>
        </p:nvSpPr>
        <p:spPr>
          <a:xfrm>
            <a:off x="6477002" y="2468880"/>
            <a:ext cx="4754880" cy="2313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GB" dirty="0">
                <a:solidFill>
                  <a:schemeClr val="bg2">
                    <a:lumMod val="2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Adding context edges (timestamps, IAT) seems to inject noise that blurs the decision boundary.</a:t>
            </a:r>
            <a:endParaRPr lang="en-GB" dirty="0">
              <a:solidFill>
                <a:schemeClr val="bg2">
                  <a:lumMod val="25000"/>
                </a:schemeClr>
              </a:solidFill>
            </a:endParaRPr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GB" dirty="0">
                <a:solidFill>
                  <a:schemeClr val="bg2">
                    <a:lumMod val="2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Recall collapses to ~0.40 so they keep precision but miss more than half the attacks.</a:t>
            </a:r>
            <a:endParaRPr lang="en-GB" dirty="0">
              <a:solidFill>
                <a:schemeClr val="bg2">
                  <a:lumMod val="25000"/>
                </a:schemeClr>
              </a:solidFill>
            </a:endParaRPr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GB" b="1" dirty="0">
                <a:solidFill>
                  <a:srgbClr val="F088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edge types ≠ better: structure matters more than quantity.</a:t>
            </a:r>
            <a:endParaRPr lang="en-GB" dirty="0"/>
          </a:p>
        </p:txBody>
      </p:sp>
      <p:sp>
        <p:nvSpPr>
          <p:cNvPr id="10" name="Text 8"/>
          <p:cNvSpPr/>
          <p:nvPr/>
        </p:nvSpPr>
        <p:spPr>
          <a:xfrm>
            <a:off x="0" y="6473952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GB" sz="900" dirty="0">
                <a:solidFill>
                  <a:srgbClr val="8B94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 Environments</a:t>
            </a:r>
            <a:endParaRPr lang="en-GB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GB" sz="900" dirty="0">
                <a:solidFill>
                  <a:srgbClr val="8B94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Context-Aware IoT Anomaly Detection</a:t>
            </a:r>
            <a:endParaRPr lang="en-GB" sz="900" dirty="0"/>
          </a:p>
        </p:txBody>
      </p:sp>
      <p:sp>
        <p:nvSpPr>
          <p:cNvPr id="14" name="Text 18">
            <a:extLst>
              <a:ext uri="{FF2B5EF4-FFF2-40B4-BE49-F238E27FC236}">
                <a16:creationId xmlns:a16="http://schemas.microsoft.com/office/drawing/2014/main" id="{C1C47871-7F44-9116-351A-09CEC36013A2}"/>
              </a:ext>
            </a:extLst>
          </p:cNvPr>
          <p:cNvSpPr/>
          <p:nvPr/>
        </p:nvSpPr>
        <p:spPr>
          <a:xfrm>
            <a:off x="9670667" y="6473952"/>
            <a:ext cx="18809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GB" sz="900" dirty="0">
                <a:solidFill>
                  <a:srgbClr val="8B94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GB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75DB33-2235-51E6-DD82-3AB146789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06BB8F9-90FD-75F7-0E15-B7491FF71D93}"/>
              </a:ext>
            </a:extLst>
          </p:cNvPr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200" b="1" kern="0" spc="200" dirty="0">
                <a:solidFill>
                  <a:srgbClr val="58A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CHAPTER 6 · THE DASHBOARD</a:t>
            </a:r>
            <a:endParaRPr lang="en-GB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FF77CF5-D8B4-43D4-7B89-33F6E83FD47C}"/>
              </a:ext>
            </a:extLst>
          </p:cNvPr>
          <p:cNvSpPr/>
          <p:nvPr/>
        </p:nvSpPr>
        <p:spPr>
          <a:xfrm>
            <a:off x="640080" y="658368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3200" b="1" dirty="0">
                <a:solidFill>
                  <a:srgbClr val="1A4D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Interactive Analysis Dashboard</a:t>
            </a:r>
            <a:endParaRPr lang="en-GB" sz="3200" dirty="0">
              <a:solidFill>
                <a:srgbClr val="1A4D8C"/>
              </a:solidFill>
            </a:endParaRPr>
          </a:p>
        </p:txBody>
      </p:sp>
      <p:grpSp>
        <p:nvGrpSpPr>
          <p:cNvPr id="14" name="Gruppo 13">
            <a:extLst>
              <a:ext uri="{FF2B5EF4-FFF2-40B4-BE49-F238E27FC236}">
                <a16:creationId xmlns:a16="http://schemas.microsoft.com/office/drawing/2014/main" id="{A2199799-1401-478D-9ECD-C5A6C87D711E}"/>
              </a:ext>
            </a:extLst>
          </p:cNvPr>
          <p:cNvGrpSpPr/>
          <p:nvPr/>
        </p:nvGrpSpPr>
        <p:grpSpPr>
          <a:xfrm>
            <a:off x="1044679" y="1796265"/>
            <a:ext cx="4840586" cy="3498750"/>
            <a:chOff x="640080" y="1783080"/>
            <a:chExt cx="5349240" cy="2715768"/>
          </a:xfrm>
          <a:solidFill>
            <a:schemeClr val="bg1"/>
          </a:solidFill>
        </p:grpSpPr>
        <p:sp>
          <p:nvSpPr>
            <p:cNvPr id="4" name="Shape 2">
              <a:extLst>
                <a:ext uri="{FF2B5EF4-FFF2-40B4-BE49-F238E27FC236}">
                  <a16:creationId xmlns:a16="http://schemas.microsoft.com/office/drawing/2014/main" id="{51157A46-C3FE-F888-88EC-EBC149AFA987}"/>
                </a:ext>
              </a:extLst>
            </p:cNvPr>
            <p:cNvSpPr/>
            <p:nvPr/>
          </p:nvSpPr>
          <p:spPr>
            <a:xfrm>
              <a:off x="640080" y="1783080"/>
              <a:ext cx="5349240" cy="2715768"/>
            </a:xfrm>
            <a:prstGeom prst="roundRect">
              <a:avLst>
                <a:gd name="adj" fmla="val 2174"/>
              </a:avLst>
            </a:prstGeom>
            <a:grpFill/>
            <a:ln w="19050">
              <a:solidFill>
                <a:schemeClr val="accent1"/>
              </a:solidFill>
              <a:prstDash val="solid"/>
            </a:ln>
          </p:spPr>
          <p:txBody>
            <a:bodyPr/>
            <a:lstStyle/>
            <a:p>
              <a:endParaRPr lang="en-GB" sz="2000" dirty="0">
                <a:latin typeface="Aptos" panose="020B0004020202020204" pitchFamily="34" charset="0"/>
              </a:endParaRPr>
            </a:p>
          </p:txBody>
        </p:sp>
        <p:sp>
          <p:nvSpPr>
            <p:cNvPr id="6" name="Text 4">
              <a:extLst>
                <a:ext uri="{FF2B5EF4-FFF2-40B4-BE49-F238E27FC236}">
                  <a16:creationId xmlns:a16="http://schemas.microsoft.com/office/drawing/2014/main" id="{8A27D70F-0143-CACA-89BA-9A9B56E5777E}"/>
                </a:ext>
              </a:extLst>
            </p:cNvPr>
            <p:cNvSpPr/>
            <p:nvPr/>
          </p:nvSpPr>
          <p:spPr>
            <a:xfrm>
              <a:off x="891540" y="2029968"/>
              <a:ext cx="4846320" cy="2368296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lIns="0" tIns="0" rIns="0" bIns="0" rtlCol="0" anchor="t"/>
            <a:lstStyle/>
            <a:p>
              <a:pPr>
                <a:lnSpc>
                  <a:spcPct val="105000"/>
                </a:lnSpc>
                <a:spcAft>
                  <a:spcPts val="800"/>
                </a:spcAft>
                <a:buSzPct val="100000"/>
              </a:pPr>
              <a:r>
                <a:rPr lang="en-GB" b="1" dirty="0">
                  <a:solidFill>
                    <a:schemeClr val="accent5"/>
                  </a:solidFill>
                  <a:latin typeface="Aptos" panose="020B0004020202020204" pitchFamily="34" charset="0"/>
                  <a:ea typeface="Aptos" pitchFamily="34" charset="-122"/>
                  <a:cs typeface="Aptos" pitchFamily="34" charset="-120"/>
                </a:rPr>
                <a:t>Architecture</a:t>
              </a:r>
              <a:endParaRPr lang="en-GB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endParaRPr>
            </a:p>
            <a:p>
              <a:pPr marL="177800" indent="-177800">
                <a:lnSpc>
                  <a:spcPct val="105000"/>
                </a:lnSpc>
                <a:spcAft>
                  <a:spcPts val="800"/>
                </a:spcAft>
                <a:buSzPct val="100000"/>
                <a:buChar char="•"/>
              </a:pPr>
              <a:r>
                <a:rPr lang="en-GB" dirty="0">
                  <a:solidFill>
                    <a:schemeClr val="bg2">
                      <a:lumMod val="25000"/>
                    </a:schemeClr>
                  </a:solidFill>
                  <a:latin typeface="Aptos" panose="020B0004020202020204" pitchFamily="34" charset="0"/>
                  <a:ea typeface="Aptos" pitchFamily="34" charset="-122"/>
                  <a:cs typeface="Aptos" pitchFamily="34" charset="-120"/>
                </a:rPr>
                <a:t>Graph visualizer with edges </a:t>
              </a:r>
              <a:r>
                <a:rPr lang="en-GB" dirty="0" err="1">
                  <a:solidFill>
                    <a:schemeClr val="bg2">
                      <a:lumMod val="25000"/>
                    </a:schemeClr>
                  </a:solidFill>
                  <a:latin typeface="Aptos" panose="020B0004020202020204" pitchFamily="34" charset="0"/>
                  <a:ea typeface="Aptos" pitchFamily="34" charset="-122"/>
                  <a:cs typeface="Aptos" pitchFamily="34" charset="-120"/>
                </a:rPr>
                <a:t>colored</a:t>
              </a:r>
              <a:r>
                <a:rPr lang="en-GB" dirty="0">
                  <a:solidFill>
                    <a:schemeClr val="bg2">
                      <a:lumMod val="25000"/>
                    </a:schemeClr>
                  </a:solidFill>
                  <a:latin typeface="Aptos" panose="020B0004020202020204" pitchFamily="34" charset="0"/>
                  <a:ea typeface="Aptos" pitchFamily="34" charset="-122"/>
                  <a:cs typeface="Aptos" pitchFamily="34" charset="-120"/>
                </a:rPr>
                <a:t> by confusion matrix (TP green, FP orange, FN purple, TN grey)</a:t>
              </a:r>
            </a:p>
            <a:p>
              <a:pPr marL="177800" indent="-177800">
                <a:lnSpc>
                  <a:spcPct val="105000"/>
                </a:lnSpc>
                <a:spcAft>
                  <a:spcPts val="800"/>
                </a:spcAft>
                <a:buSzPct val="100000"/>
                <a:buChar char="•"/>
              </a:pPr>
              <a:r>
                <a:rPr lang="en-GB" dirty="0">
                  <a:solidFill>
                    <a:schemeClr val="bg2">
                      <a:lumMod val="25000"/>
                    </a:schemeClr>
                  </a:solidFill>
                  <a:latin typeface="Aptos" panose="020B0004020202020204" pitchFamily="34" charset="0"/>
                </a:rPr>
                <a:t> Real-time metrics panel + “Zoom Anomaly” button</a:t>
              </a:r>
            </a:p>
            <a:p>
              <a:pPr marL="177800" indent="-177800">
                <a:lnSpc>
                  <a:spcPct val="105000"/>
                </a:lnSpc>
                <a:spcAft>
                  <a:spcPts val="800"/>
                </a:spcAft>
                <a:buSzPct val="100000"/>
                <a:buChar char="•"/>
              </a:pPr>
              <a:r>
                <a:rPr lang="en-GB" dirty="0">
                  <a:solidFill>
                    <a:schemeClr val="bg2">
                      <a:lumMod val="25000"/>
                    </a:schemeClr>
                  </a:solidFill>
                  <a:latin typeface="Aptos" panose="020B0004020202020204" pitchFamily="34" charset="0"/>
                </a:rPr>
                <a:t>Ablation study comparator with grouped bar chart and raw data table</a:t>
              </a:r>
            </a:p>
          </p:txBody>
        </p:sp>
      </p:grpSp>
      <p:grpSp>
        <p:nvGrpSpPr>
          <p:cNvPr id="15" name="Gruppo 14">
            <a:extLst>
              <a:ext uri="{FF2B5EF4-FFF2-40B4-BE49-F238E27FC236}">
                <a16:creationId xmlns:a16="http://schemas.microsoft.com/office/drawing/2014/main" id="{F3CDC434-694D-61A6-8FAA-1748ADF5384B}"/>
              </a:ext>
            </a:extLst>
          </p:cNvPr>
          <p:cNvGrpSpPr/>
          <p:nvPr/>
        </p:nvGrpSpPr>
        <p:grpSpPr>
          <a:xfrm>
            <a:off x="6406029" y="1796265"/>
            <a:ext cx="4741292" cy="3498750"/>
            <a:chOff x="6309360" y="1783080"/>
            <a:chExt cx="5239512" cy="2715768"/>
          </a:xfrm>
          <a:solidFill>
            <a:schemeClr val="bg1"/>
          </a:solidFill>
        </p:grpSpPr>
        <p:sp>
          <p:nvSpPr>
            <p:cNvPr id="7" name="Shape 5">
              <a:extLst>
                <a:ext uri="{FF2B5EF4-FFF2-40B4-BE49-F238E27FC236}">
                  <a16:creationId xmlns:a16="http://schemas.microsoft.com/office/drawing/2014/main" id="{4EC85873-F8EB-C422-D194-3F54D4AC57EB}"/>
                </a:ext>
              </a:extLst>
            </p:cNvPr>
            <p:cNvSpPr/>
            <p:nvPr/>
          </p:nvSpPr>
          <p:spPr>
            <a:xfrm>
              <a:off x="6309360" y="1783080"/>
              <a:ext cx="5239512" cy="2715768"/>
            </a:xfrm>
            <a:prstGeom prst="roundRect">
              <a:avLst>
                <a:gd name="adj" fmla="val 2174"/>
              </a:avLst>
            </a:prstGeom>
            <a:grpFill/>
            <a:ln w="19050">
              <a:solidFill>
                <a:srgbClr val="DF3F4F"/>
              </a:solidFill>
              <a:prstDash val="solid"/>
            </a:ln>
          </p:spPr>
          <p:txBody>
            <a:bodyPr/>
            <a:lstStyle/>
            <a:p>
              <a:endParaRPr lang="en-GB" dirty="0">
                <a:latin typeface="Aptos" panose="020B0004020202020204" pitchFamily="34" charset="0"/>
              </a:endParaRPr>
            </a:p>
          </p:txBody>
        </p:sp>
        <p:sp>
          <p:nvSpPr>
            <p:cNvPr id="9" name="Text 7">
              <a:extLst>
                <a:ext uri="{FF2B5EF4-FFF2-40B4-BE49-F238E27FC236}">
                  <a16:creationId xmlns:a16="http://schemas.microsoft.com/office/drawing/2014/main" id="{D3DBF764-E87D-7B35-1B1C-CD86AFBE9646}"/>
                </a:ext>
              </a:extLst>
            </p:cNvPr>
            <p:cNvSpPr/>
            <p:nvPr/>
          </p:nvSpPr>
          <p:spPr>
            <a:xfrm>
              <a:off x="6551676" y="2029968"/>
              <a:ext cx="4754880" cy="2368296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lIns="0" tIns="0" rIns="0" bIns="0" rtlCol="0" anchor="t"/>
            <a:lstStyle/>
            <a:p>
              <a:pPr>
                <a:lnSpc>
                  <a:spcPct val="105000"/>
                </a:lnSpc>
                <a:spcAft>
                  <a:spcPts val="800"/>
                </a:spcAft>
                <a:buSzPct val="100000"/>
              </a:pPr>
              <a:r>
                <a:rPr lang="en-GB" b="1" dirty="0">
                  <a:solidFill>
                    <a:srgbClr val="DF3F4F"/>
                  </a:solidFill>
                  <a:latin typeface="Aptos" panose="020B0004020202020204" pitchFamily="34" charset="0"/>
                  <a:ea typeface="Aptos" pitchFamily="34" charset="-122"/>
                  <a:cs typeface="Aptos" pitchFamily="34" charset="-120"/>
                </a:rPr>
                <a:t>Innovation</a:t>
              </a:r>
              <a:endParaRPr lang="en-GB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endParaRPr>
            </a:p>
            <a:p>
              <a:pPr marL="177800" indent="-177800">
                <a:lnSpc>
                  <a:spcPct val="105000"/>
                </a:lnSpc>
                <a:spcAft>
                  <a:spcPts val="800"/>
                </a:spcAft>
                <a:buSzPct val="100000"/>
                <a:buChar char="•"/>
              </a:pPr>
              <a:r>
                <a:rPr lang="en-GB" dirty="0" err="1">
                  <a:solidFill>
                    <a:schemeClr val="bg2">
                      <a:lumMod val="25000"/>
                    </a:schemeClr>
                  </a:solidFill>
                  <a:latin typeface="Aptos" panose="020B0004020202020204" pitchFamily="34" charset="0"/>
                </a:rPr>
                <a:t>get_ever_active_nodes</a:t>
              </a:r>
              <a:r>
                <a:rPr lang="en-GB" dirty="0">
                  <a:solidFill>
                    <a:schemeClr val="bg2">
                      <a:lumMod val="25000"/>
                    </a:schemeClr>
                  </a:solidFill>
                  <a:latin typeface="Aptos" panose="020B0004020202020204" pitchFamily="34" charset="0"/>
                </a:rPr>
                <a:t> function for dense node mapping</a:t>
              </a:r>
            </a:p>
            <a:p>
              <a:pPr marL="177800" indent="-177800">
                <a:lnSpc>
                  <a:spcPct val="105000"/>
                </a:lnSpc>
                <a:spcAft>
                  <a:spcPts val="800"/>
                </a:spcAft>
                <a:buSzPct val="100000"/>
                <a:buChar char="•"/>
              </a:pPr>
              <a:r>
                <a:rPr lang="en-GB" dirty="0">
                  <a:solidFill>
                    <a:schemeClr val="bg2">
                      <a:lumMod val="25000"/>
                    </a:schemeClr>
                  </a:solidFill>
                  <a:latin typeface="Aptos" panose="020B0004020202020204" pitchFamily="34" charset="0"/>
                </a:rPr>
                <a:t>Per-configuration prediction files (preds_[CONFIG].csv)</a:t>
              </a:r>
            </a:p>
            <a:p>
              <a:pPr marL="177800" indent="-177800">
                <a:lnSpc>
                  <a:spcPct val="105000"/>
                </a:lnSpc>
                <a:spcAft>
                  <a:spcPts val="800"/>
                </a:spcAft>
                <a:buSzPct val="100000"/>
                <a:buChar char="•"/>
              </a:pPr>
              <a:r>
                <a:rPr lang="en-GB" dirty="0">
                  <a:solidFill>
                    <a:schemeClr val="bg2">
                      <a:lumMod val="25000"/>
                    </a:schemeClr>
                  </a:solidFill>
                  <a:latin typeface="Aptos" panose="020B0004020202020204" pitchFamily="34" charset="0"/>
                </a:rPr>
                <a:t>Edge-level </a:t>
              </a:r>
              <a:r>
                <a:rPr lang="en-GB" dirty="0" err="1">
                  <a:solidFill>
                    <a:schemeClr val="bg2">
                      <a:lumMod val="25000"/>
                    </a:schemeClr>
                  </a:solidFill>
                  <a:latin typeface="Aptos" panose="020B0004020202020204" pitchFamily="34" charset="0"/>
                </a:rPr>
                <a:t>labeled</a:t>
              </a:r>
              <a:r>
                <a:rPr lang="en-GB" dirty="0">
                  <a:solidFill>
                    <a:schemeClr val="bg2">
                      <a:lumMod val="25000"/>
                    </a:schemeClr>
                  </a:solidFill>
                  <a:latin typeface="Aptos" panose="020B0004020202020204" pitchFamily="34" charset="0"/>
                </a:rPr>
                <a:t> graphs for post-hoc analysis</a:t>
              </a:r>
            </a:p>
            <a:p>
              <a:pPr marL="177800" indent="-177800">
                <a:lnSpc>
                  <a:spcPct val="105000"/>
                </a:lnSpc>
                <a:spcAft>
                  <a:spcPts val="800"/>
                </a:spcAft>
                <a:buSzPct val="100000"/>
                <a:buChar char="•"/>
              </a:pPr>
              <a:endParaRPr lang="en-GB" dirty="0">
                <a:solidFill>
                  <a:schemeClr val="bg1"/>
                </a:solidFill>
                <a:latin typeface="Aptos" panose="020B0004020202020204" pitchFamily="34" charset="0"/>
              </a:endParaRPr>
            </a:p>
          </p:txBody>
        </p:sp>
      </p:grpSp>
      <p:sp>
        <p:nvSpPr>
          <p:cNvPr id="10" name="Text 8">
            <a:extLst>
              <a:ext uri="{FF2B5EF4-FFF2-40B4-BE49-F238E27FC236}">
                <a16:creationId xmlns:a16="http://schemas.microsoft.com/office/drawing/2014/main" id="{77B3D3A9-2590-66C6-5A45-38D0B059FBD1}"/>
              </a:ext>
            </a:extLst>
          </p:cNvPr>
          <p:cNvSpPr/>
          <p:nvPr/>
        </p:nvSpPr>
        <p:spPr>
          <a:xfrm>
            <a:off x="0" y="6473952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GB" sz="900" dirty="0">
                <a:solidFill>
                  <a:srgbClr val="8B94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 Environments</a:t>
            </a:r>
            <a:endParaRPr lang="en-GB" sz="9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9C997097-4DD4-430E-FF98-5E450973BC6D}"/>
              </a:ext>
            </a:extLst>
          </p:cNvPr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GB" sz="900" dirty="0">
                <a:solidFill>
                  <a:srgbClr val="8B94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Context-Aware IoT Anomaly Detection</a:t>
            </a:r>
            <a:endParaRPr lang="en-GB" sz="900" dirty="0"/>
          </a:p>
        </p:txBody>
      </p:sp>
      <p:sp>
        <p:nvSpPr>
          <p:cNvPr id="17" name="Shape 5">
            <a:extLst>
              <a:ext uri="{FF2B5EF4-FFF2-40B4-BE49-F238E27FC236}">
                <a16:creationId xmlns:a16="http://schemas.microsoft.com/office/drawing/2014/main" id="{F65C2DDF-B46E-290E-72B6-29C102CABC02}"/>
              </a:ext>
            </a:extLst>
          </p:cNvPr>
          <p:cNvSpPr/>
          <p:nvPr/>
        </p:nvSpPr>
        <p:spPr>
          <a:xfrm>
            <a:off x="4614885" y="5632704"/>
            <a:ext cx="2687910" cy="566928"/>
          </a:xfrm>
          <a:prstGeom prst="roundRect">
            <a:avLst>
              <a:gd name="adj" fmla="val 16129"/>
            </a:avLst>
          </a:prstGeom>
          <a:solidFill>
            <a:schemeClr val="bg1"/>
          </a:solidFill>
          <a:ln w="1905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6C33EDAD-73F0-2877-716C-F89E9AD549D8}"/>
              </a:ext>
            </a:extLst>
          </p:cNvPr>
          <p:cNvSpPr/>
          <p:nvPr/>
        </p:nvSpPr>
        <p:spPr>
          <a:xfrm>
            <a:off x="4889204" y="5632704"/>
            <a:ext cx="241359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250" b="1" i="1" dirty="0">
                <a:solidFill>
                  <a:schemeClr val="bg2">
                    <a:lumMod val="2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▶  </a:t>
            </a:r>
            <a:r>
              <a:rPr lang="en-GB" sz="1250" i="1" dirty="0">
                <a:solidFill>
                  <a:schemeClr val="bg2">
                    <a:lumMod val="2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Demo: video on the next slide.</a:t>
            </a:r>
            <a:endParaRPr lang="en-GB" sz="125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9" name="Text 18">
            <a:extLst>
              <a:ext uri="{FF2B5EF4-FFF2-40B4-BE49-F238E27FC236}">
                <a16:creationId xmlns:a16="http://schemas.microsoft.com/office/drawing/2014/main" id="{D1A1B254-9009-6A90-978A-2CCD68AE916A}"/>
              </a:ext>
            </a:extLst>
          </p:cNvPr>
          <p:cNvSpPr/>
          <p:nvPr/>
        </p:nvSpPr>
        <p:spPr>
          <a:xfrm>
            <a:off x="9670667" y="6473952"/>
            <a:ext cx="18809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GB" sz="900" dirty="0">
                <a:solidFill>
                  <a:srgbClr val="8B94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GB" sz="900" dirty="0"/>
          </a:p>
        </p:txBody>
      </p:sp>
    </p:spTree>
    <p:extLst>
      <p:ext uri="{BB962C8B-B14F-4D97-AF65-F5344CB8AC3E}">
        <p14:creationId xmlns:p14="http://schemas.microsoft.com/office/powerpoint/2010/main" val="10509207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video-network_animation.mov">
            <a:hlinkClick r:id="" action="ppaction://media"/>
            <a:extLst>
              <a:ext uri="{FF2B5EF4-FFF2-40B4-BE49-F238E27FC236}">
                <a16:creationId xmlns:a16="http://schemas.microsoft.com/office/drawing/2014/main" id="{D3FBA6E2-4C64-4C23-DBA7-86E8239EFE1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-1562986"/>
            <a:ext cx="14970642" cy="8420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736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4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200" b="1" kern="0" spc="200" dirty="0">
                <a:solidFill>
                  <a:srgbClr val="58A6FF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CHAPTER 6 · OUR THREE CONTRIBUTIONS</a:t>
            </a:r>
            <a:endParaRPr lang="en-GB" sz="1200" dirty="0">
              <a:latin typeface="Aptos" panose="020B00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3200" b="1" dirty="0">
                <a:solidFill>
                  <a:srgbClr val="1A4D8C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Conclusions</a:t>
            </a:r>
            <a:endParaRPr lang="en-GB" sz="3200" dirty="0">
              <a:solidFill>
                <a:srgbClr val="1A4D8C"/>
              </a:solidFill>
              <a:latin typeface="Aptos" panose="020B00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02152" cy="3017520"/>
          </a:xfrm>
          <a:prstGeom prst="roundRect">
            <a:avLst>
              <a:gd name="adj" fmla="val 3030"/>
            </a:avLst>
          </a:prstGeom>
          <a:noFill/>
          <a:ln w="1905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980563" y="2103120"/>
            <a:ext cx="640080" cy="640080"/>
          </a:xfrm>
          <a:prstGeom prst="ellipse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980563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sz="2600" b="1" dirty="0">
                <a:solidFill>
                  <a:srgbClr val="0D1117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GB" sz="2600" dirty="0">
              <a:latin typeface="Aptos" panose="020B00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914400" y="2980944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b="1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Graph construction matters</a:t>
            </a:r>
            <a:endParaRPr lang="en-GB" b="1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914400" y="3593592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sz="1600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The choice of edge types drives performance more than the model itself.</a:t>
            </a:r>
            <a:endParaRPr lang="en-GB" sz="1600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325112" y="1828800"/>
            <a:ext cx="3502152" cy="3017520"/>
          </a:xfrm>
          <a:prstGeom prst="roundRect">
            <a:avLst>
              <a:gd name="adj" fmla="val 3030"/>
            </a:avLst>
          </a:prstGeom>
          <a:noFill/>
          <a:ln w="1905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665595" y="2103120"/>
            <a:ext cx="640080" cy="640080"/>
          </a:xfrm>
          <a:prstGeom prst="ellipse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665595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sz="2600" b="1" dirty="0">
                <a:solidFill>
                  <a:srgbClr val="0D1117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GB" sz="2600" dirty="0">
              <a:latin typeface="Aptos" panose="020B00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599432" y="2980944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b="1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Attacks target the hubs</a:t>
            </a:r>
            <a:endParaRPr lang="en-GB" b="1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599432" y="3593592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sz="1600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Anomalies concentrate on high-degree nodes;  consistent with scale-free network theory.</a:t>
            </a:r>
            <a:endParaRPr lang="en-GB" sz="1600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010144" y="1828800"/>
            <a:ext cx="3502152" cy="3017520"/>
          </a:xfrm>
          <a:prstGeom prst="roundRect">
            <a:avLst>
              <a:gd name="adj" fmla="val 3030"/>
            </a:avLst>
          </a:prstGeom>
          <a:noFill/>
          <a:ln w="19050">
            <a:solidFill>
              <a:srgbClr val="A371F7"/>
            </a:solidFill>
            <a:prstDash val="solid"/>
          </a:ln>
        </p:spPr>
        <p:txBody>
          <a:bodyPr/>
          <a:lstStyle/>
          <a:p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9350627" y="2103120"/>
            <a:ext cx="640080" cy="640080"/>
          </a:xfrm>
          <a:prstGeom prst="ellipse">
            <a:avLst/>
          </a:prstGeom>
          <a:solidFill>
            <a:srgbClr val="A371F7"/>
          </a:solidFill>
          <a:ln/>
        </p:spPr>
        <p:txBody>
          <a:bodyPr/>
          <a:lstStyle/>
          <a:p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9350627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sz="2600" b="1" dirty="0">
                <a:solidFill>
                  <a:srgbClr val="0D1117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GB" sz="2600" dirty="0">
              <a:latin typeface="Aptos" panose="020B00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284464" y="2980944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b="1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Lateral propagation</a:t>
            </a:r>
            <a:endParaRPr lang="en-GB" b="1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284464" y="3593592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sz="1600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Communities collapse as the attack spreads between compromised internal devices.</a:t>
            </a:r>
            <a:endParaRPr lang="en-GB" sz="1600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40080" y="5074920"/>
            <a:ext cx="10911535" cy="914400"/>
          </a:xfrm>
          <a:prstGeom prst="roundRect">
            <a:avLst>
              <a:gd name="adj" fmla="val 10000"/>
            </a:avLst>
          </a:prstGeom>
          <a:solidFill>
            <a:srgbClr val="21262D"/>
          </a:solidFill>
          <a:ln w="1905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960120" y="507492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350" b="1" dirty="0">
                <a:solidFill>
                  <a:srgbClr val="58A6FF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Surprising takeaway:  </a:t>
            </a:r>
            <a:r>
              <a:rPr lang="en-GB" sz="1350" dirty="0">
                <a:solidFill>
                  <a:srgbClr val="F0F6FF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communication features alone are already competitive. With more resources, B/D might converge but here, simpler graphs win.</a:t>
            </a:r>
            <a:endParaRPr lang="en-GB" sz="1350" dirty="0">
              <a:latin typeface="Aptos" panose="020B00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0" y="6473952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GB" sz="900" dirty="0">
                <a:solidFill>
                  <a:srgbClr val="8B949E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Smart Environments</a:t>
            </a:r>
            <a:endParaRPr lang="en-GB" sz="900" dirty="0">
              <a:latin typeface="Aptos" panose="020B00040202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GB" sz="900" dirty="0">
                <a:solidFill>
                  <a:srgbClr val="8B949E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Context-Aware IoT Anomaly Detection</a:t>
            </a:r>
            <a:endParaRPr lang="en-GB" sz="900" dirty="0">
              <a:latin typeface="Aptos" panose="020B0004020202020204" pitchFamily="34" charset="0"/>
            </a:endParaRPr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03A8D077-38F2-77F6-7D27-A0A47B09BB7C}"/>
              </a:ext>
            </a:extLst>
          </p:cNvPr>
          <p:cNvSpPr/>
          <p:nvPr/>
        </p:nvSpPr>
        <p:spPr>
          <a:xfrm>
            <a:off x="9670667" y="6473952"/>
            <a:ext cx="18809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GB" sz="900" dirty="0">
                <a:solidFill>
                  <a:srgbClr val="8B949E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23</a:t>
            </a:r>
            <a:endParaRPr lang="en-GB" sz="90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2">
            <a:extLst>
              <a:ext uri="{FF2B5EF4-FFF2-40B4-BE49-F238E27FC236}">
                <a16:creationId xmlns:a16="http://schemas.microsoft.com/office/drawing/2014/main" id="{74485A77-D96E-2163-0F96-5D9AF4127C85}"/>
              </a:ext>
            </a:extLst>
          </p:cNvPr>
          <p:cNvSpPr/>
          <p:nvPr/>
        </p:nvSpPr>
        <p:spPr>
          <a:xfrm>
            <a:off x="3063240" y="2624328"/>
            <a:ext cx="8418270" cy="777240"/>
          </a:xfrm>
          <a:prstGeom prst="roundRect">
            <a:avLst>
              <a:gd name="adj" fmla="val 11765"/>
            </a:avLst>
          </a:prstGeom>
          <a:solidFill>
            <a:schemeClr val="bg1"/>
          </a:solidFill>
          <a:ln w="19050">
            <a:solidFill>
              <a:srgbClr val="EF8176"/>
            </a:solidFill>
            <a:prstDash val="solid"/>
          </a:ln>
        </p:spPr>
        <p:txBody>
          <a:bodyPr/>
          <a:lstStyle/>
          <a:p>
            <a:endParaRPr lang="en-GB" sz="1600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29" name="Shape 2">
            <a:extLst>
              <a:ext uri="{FF2B5EF4-FFF2-40B4-BE49-F238E27FC236}">
                <a16:creationId xmlns:a16="http://schemas.microsoft.com/office/drawing/2014/main" id="{0853E8A1-C419-3852-F3E4-6759BBDA3101}"/>
              </a:ext>
            </a:extLst>
          </p:cNvPr>
          <p:cNvSpPr/>
          <p:nvPr/>
        </p:nvSpPr>
        <p:spPr>
          <a:xfrm>
            <a:off x="3072384" y="3465576"/>
            <a:ext cx="8418270" cy="777240"/>
          </a:xfrm>
          <a:prstGeom prst="roundRect">
            <a:avLst>
              <a:gd name="adj" fmla="val 11765"/>
            </a:avLst>
          </a:prstGeom>
          <a:solidFill>
            <a:schemeClr val="bg1"/>
          </a:solidFill>
          <a:ln w="19050">
            <a:solidFill>
              <a:srgbClr val="EF8176"/>
            </a:solidFill>
            <a:prstDash val="solid"/>
          </a:ln>
        </p:spPr>
        <p:txBody>
          <a:bodyPr/>
          <a:lstStyle/>
          <a:p>
            <a:endParaRPr lang="en-GB" sz="1600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30" name="Shape 2">
            <a:extLst>
              <a:ext uri="{FF2B5EF4-FFF2-40B4-BE49-F238E27FC236}">
                <a16:creationId xmlns:a16="http://schemas.microsoft.com/office/drawing/2014/main" id="{7033F940-90FB-E275-BFE0-5D57892CAB0B}"/>
              </a:ext>
            </a:extLst>
          </p:cNvPr>
          <p:cNvSpPr/>
          <p:nvPr/>
        </p:nvSpPr>
        <p:spPr>
          <a:xfrm>
            <a:off x="3063240" y="4306824"/>
            <a:ext cx="8418270" cy="777240"/>
          </a:xfrm>
          <a:prstGeom prst="roundRect">
            <a:avLst>
              <a:gd name="adj" fmla="val 11765"/>
            </a:avLst>
          </a:prstGeom>
          <a:solidFill>
            <a:schemeClr val="bg1"/>
          </a:solidFill>
          <a:ln w="19050">
            <a:solidFill>
              <a:srgbClr val="EF8176"/>
            </a:solidFill>
            <a:prstDash val="solid"/>
          </a:ln>
        </p:spPr>
        <p:txBody>
          <a:bodyPr/>
          <a:lstStyle/>
          <a:p>
            <a:endParaRPr lang="en-GB" sz="1600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31" name="Shape 2">
            <a:extLst>
              <a:ext uri="{FF2B5EF4-FFF2-40B4-BE49-F238E27FC236}">
                <a16:creationId xmlns:a16="http://schemas.microsoft.com/office/drawing/2014/main" id="{749C0969-CDB5-D175-704B-917528AC7FEB}"/>
              </a:ext>
            </a:extLst>
          </p:cNvPr>
          <p:cNvSpPr/>
          <p:nvPr/>
        </p:nvSpPr>
        <p:spPr>
          <a:xfrm>
            <a:off x="3072384" y="5148072"/>
            <a:ext cx="8418270" cy="777240"/>
          </a:xfrm>
          <a:prstGeom prst="roundRect">
            <a:avLst>
              <a:gd name="adj" fmla="val 11765"/>
            </a:avLst>
          </a:prstGeom>
          <a:solidFill>
            <a:schemeClr val="bg1"/>
          </a:solidFill>
          <a:ln w="19050">
            <a:solidFill>
              <a:srgbClr val="EF8176"/>
            </a:solidFill>
            <a:prstDash val="solid"/>
          </a:ln>
        </p:spPr>
        <p:txBody>
          <a:bodyPr/>
          <a:lstStyle/>
          <a:p>
            <a:endParaRPr lang="en-GB" sz="1600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23" name="Shape 2">
            <a:extLst>
              <a:ext uri="{FF2B5EF4-FFF2-40B4-BE49-F238E27FC236}">
                <a16:creationId xmlns:a16="http://schemas.microsoft.com/office/drawing/2014/main" id="{9A34251C-EE5E-DBE4-B8D1-B26B17C84CD7}"/>
              </a:ext>
            </a:extLst>
          </p:cNvPr>
          <p:cNvSpPr/>
          <p:nvPr/>
        </p:nvSpPr>
        <p:spPr>
          <a:xfrm>
            <a:off x="640080" y="2624328"/>
            <a:ext cx="2350007" cy="777240"/>
          </a:xfrm>
          <a:prstGeom prst="roundRect">
            <a:avLst>
              <a:gd name="adj" fmla="val 11765"/>
            </a:avLst>
          </a:prstGeom>
          <a:solidFill>
            <a:srgbClr val="EF8176"/>
          </a:solidFill>
          <a:ln w="19050">
            <a:noFill/>
            <a:prstDash val="solid"/>
          </a:ln>
        </p:spPr>
        <p:txBody>
          <a:bodyPr/>
          <a:lstStyle/>
          <a:p>
            <a:endParaRPr lang="en-GB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24" name="Shape 2">
            <a:extLst>
              <a:ext uri="{FF2B5EF4-FFF2-40B4-BE49-F238E27FC236}">
                <a16:creationId xmlns:a16="http://schemas.microsoft.com/office/drawing/2014/main" id="{2A2F0891-1A5A-A619-AE4F-045BE7C8F2FC}"/>
              </a:ext>
            </a:extLst>
          </p:cNvPr>
          <p:cNvSpPr/>
          <p:nvPr/>
        </p:nvSpPr>
        <p:spPr>
          <a:xfrm>
            <a:off x="640079" y="3465576"/>
            <a:ext cx="2350007" cy="777240"/>
          </a:xfrm>
          <a:prstGeom prst="roundRect">
            <a:avLst>
              <a:gd name="adj" fmla="val 11765"/>
            </a:avLst>
          </a:prstGeom>
          <a:solidFill>
            <a:srgbClr val="EF8176"/>
          </a:solidFill>
          <a:ln w="19050">
            <a:noFill/>
            <a:prstDash val="solid"/>
          </a:ln>
        </p:spPr>
        <p:txBody>
          <a:bodyPr/>
          <a:lstStyle/>
          <a:p>
            <a:endParaRPr lang="en-GB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25" name="Shape 2">
            <a:extLst>
              <a:ext uri="{FF2B5EF4-FFF2-40B4-BE49-F238E27FC236}">
                <a16:creationId xmlns:a16="http://schemas.microsoft.com/office/drawing/2014/main" id="{AD09AC4E-8444-57F1-93E9-26962C015770}"/>
              </a:ext>
            </a:extLst>
          </p:cNvPr>
          <p:cNvSpPr/>
          <p:nvPr/>
        </p:nvSpPr>
        <p:spPr>
          <a:xfrm>
            <a:off x="640078" y="4306824"/>
            <a:ext cx="2350007" cy="777240"/>
          </a:xfrm>
          <a:prstGeom prst="roundRect">
            <a:avLst>
              <a:gd name="adj" fmla="val 11765"/>
            </a:avLst>
          </a:prstGeom>
          <a:solidFill>
            <a:srgbClr val="EF8176"/>
          </a:solidFill>
          <a:ln w="19050">
            <a:noFill/>
            <a:prstDash val="solid"/>
          </a:ln>
        </p:spPr>
        <p:txBody>
          <a:bodyPr/>
          <a:lstStyle/>
          <a:p>
            <a:endParaRPr lang="en-GB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26" name="Shape 2">
            <a:extLst>
              <a:ext uri="{FF2B5EF4-FFF2-40B4-BE49-F238E27FC236}">
                <a16:creationId xmlns:a16="http://schemas.microsoft.com/office/drawing/2014/main" id="{BA2FDFC1-12D6-B6E1-075C-A62065C134D7}"/>
              </a:ext>
            </a:extLst>
          </p:cNvPr>
          <p:cNvSpPr/>
          <p:nvPr/>
        </p:nvSpPr>
        <p:spPr>
          <a:xfrm>
            <a:off x="640077" y="5148072"/>
            <a:ext cx="2350007" cy="777240"/>
          </a:xfrm>
          <a:prstGeom prst="roundRect">
            <a:avLst>
              <a:gd name="adj" fmla="val 11765"/>
            </a:avLst>
          </a:prstGeom>
          <a:solidFill>
            <a:srgbClr val="EF8176"/>
          </a:solidFill>
          <a:ln w="19050">
            <a:noFill/>
            <a:prstDash val="solid"/>
          </a:ln>
        </p:spPr>
        <p:txBody>
          <a:bodyPr/>
          <a:lstStyle/>
          <a:p>
            <a:endParaRPr lang="en-GB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22" name="Shape 2">
            <a:extLst>
              <a:ext uri="{FF2B5EF4-FFF2-40B4-BE49-F238E27FC236}">
                <a16:creationId xmlns:a16="http://schemas.microsoft.com/office/drawing/2014/main" id="{91B55B24-E32A-AACB-56CF-D14C0BE8AB58}"/>
              </a:ext>
            </a:extLst>
          </p:cNvPr>
          <p:cNvSpPr/>
          <p:nvPr/>
        </p:nvSpPr>
        <p:spPr>
          <a:xfrm>
            <a:off x="3063240" y="1783080"/>
            <a:ext cx="8418270" cy="777240"/>
          </a:xfrm>
          <a:prstGeom prst="roundRect">
            <a:avLst>
              <a:gd name="adj" fmla="val 11765"/>
            </a:avLst>
          </a:prstGeom>
          <a:solidFill>
            <a:schemeClr val="bg1"/>
          </a:solidFill>
          <a:ln w="19050">
            <a:solidFill>
              <a:srgbClr val="EF8176"/>
            </a:solidFill>
            <a:prstDash val="solid"/>
          </a:ln>
        </p:spPr>
        <p:txBody>
          <a:bodyPr/>
          <a:lstStyle/>
          <a:p>
            <a:endParaRPr lang="en-GB" sz="1600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200" b="1" kern="0" spc="200" dirty="0">
                <a:solidFill>
                  <a:srgbClr val="58A6FF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CHAPTER 6 · HONEST CAVEATS</a:t>
            </a:r>
            <a:endParaRPr lang="en-GB" sz="1200" dirty="0">
              <a:latin typeface="Aptos" panose="020B00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3200" b="1" dirty="0">
                <a:solidFill>
                  <a:srgbClr val="1A4D8C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Limitations</a:t>
            </a:r>
            <a:endParaRPr lang="en-GB" sz="3200" dirty="0">
              <a:solidFill>
                <a:srgbClr val="1A4D8C"/>
              </a:solidFill>
              <a:latin typeface="Aptos" panose="020B00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1" y="1783080"/>
            <a:ext cx="2350007" cy="777240"/>
          </a:xfrm>
          <a:prstGeom prst="roundRect">
            <a:avLst>
              <a:gd name="adj" fmla="val 11765"/>
            </a:avLst>
          </a:prstGeom>
          <a:solidFill>
            <a:srgbClr val="EF8176"/>
          </a:solidFill>
          <a:ln w="19050">
            <a:noFill/>
            <a:prstDash val="solid"/>
          </a:ln>
        </p:spPr>
        <p:txBody>
          <a:bodyPr/>
          <a:lstStyle/>
          <a:p>
            <a:endParaRPr lang="en-GB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77" y="1783080"/>
            <a:ext cx="2350007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sz="2000" b="1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Training budget</a:t>
            </a:r>
            <a:endParaRPr lang="en-GB" sz="2000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42360" y="1783080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600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10 epochs vs 70 in the paper; only a 20% subset of the data.</a:t>
            </a:r>
            <a:endParaRPr lang="en-GB" sz="1600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0077" y="2624328"/>
            <a:ext cx="2350007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sz="2000" b="1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Reliability</a:t>
            </a:r>
            <a:endParaRPr lang="en-GB" sz="2000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642360" y="2624328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600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Results are seed-dependent; k-fold cross-validation was computationally infeasible.</a:t>
            </a:r>
            <a:endParaRPr lang="en-GB" sz="1600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40077" y="3465576"/>
            <a:ext cx="2350007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sz="2000" b="1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Methodology</a:t>
            </a:r>
            <a:endParaRPr lang="en-GB" sz="2000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642360" y="3465576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600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Stratified + temporal split is necessary but debatable for time-series.</a:t>
            </a:r>
            <a:endParaRPr lang="en-GB" sz="1600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40077" y="4306824"/>
            <a:ext cx="2350007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sz="2000" b="1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Algorithmic</a:t>
            </a:r>
            <a:endParaRPr lang="en-GB" sz="2000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642360" y="4306824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600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LPA is non-deterministic; community quality varies run to run.</a:t>
            </a:r>
            <a:endParaRPr lang="en-GB" sz="1600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40077" y="5148072"/>
            <a:ext cx="2350007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sz="2000" b="1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Generalization</a:t>
            </a:r>
            <a:endParaRPr lang="en-GB" sz="2000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642360" y="5148072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600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Evaluated on a single dataset (CIC-</a:t>
            </a:r>
            <a:r>
              <a:rPr lang="en-GB" sz="1600" dirty="0" err="1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ToN</a:t>
            </a:r>
            <a:r>
              <a:rPr lang="en-GB" sz="1600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-IoT) only.</a:t>
            </a:r>
            <a:endParaRPr lang="en-GB" sz="1600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0" y="6473952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GB" sz="900" dirty="0">
                <a:solidFill>
                  <a:srgbClr val="8B949E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Smart Environments</a:t>
            </a:r>
            <a:endParaRPr lang="en-GB" sz="900" dirty="0">
              <a:latin typeface="Aptos" panose="020B00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GB" sz="900" dirty="0">
                <a:solidFill>
                  <a:srgbClr val="8B949E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Context-Aware IoT Anomaly Detection</a:t>
            </a:r>
            <a:endParaRPr lang="en-GB" sz="900" dirty="0">
              <a:latin typeface="Aptos" panose="020B0004020202020204" pitchFamily="34" charset="0"/>
            </a:endParaRPr>
          </a:p>
        </p:txBody>
      </p:sp>
      <p:sp>
        <p:nvSpPr>
          <p:cNvPr id="32" name="Text 18">
            <a:extLst>
              <a:ext uri="{FF2B5EF4-FFF2-40B4-BE49-F238E27FC236}">
                <a16:creationId xmlns:a16="http://schemas.microsoft.com/office/drawing/2014/main" id="{68269427-A3F4-5883-8F3B-25E90901CBAE}"/>
              </a:ext>
            </a:extLst>
          </p:cNvPr>
          <p:cNvSpPr/>
          <p:nvPr/>
        </p:nvSpPr>
        <p:spPr>
          <a:xfrm>
            <a:off x="9670667" y="6473952"/>
            <a:ext cx="18809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GB" sz="900" dirty="0">
                <a:solidFill>
                  <a:srgbClr val="8B949E"/>
                </a:solidFill>
                <a:latin typeface="Aptos" pitchFamily="34" charset="0"/>
              </a:rPr>
              <a:t>24</a:t>
            </a:r>
            <a:endParaRPr lang="en-GB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468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600" b="1" kern="0" spc="300" dirty="0">
                <a:solidFill>
                  <a:srgbClr val="58A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 WORK</a:t>
            </a:r>
            <a:endParaRPr lang="en-GB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2926080"/>
            <a:ext cx="10972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GB" sz="4400" b="1" dirty="0">
                <a:solidFill>
                  <a:srgbClr val="1A4D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Low-Cost Graph</a:t>
            </a:r>
            <a:endParaRPr lang="en-GB" sz="4400" dirty="0">
              <a:solidFill>
                <a:srgbClr val="1A4D8C"/>
              </a:solidFill>
            </a:endParaRPr>
          </a:p>
          <a:p>
            <a:pPr marL="0" indent="0">
              <a:lnSpc>
                <a:spcPct val="98000"/>
              </a:lnSpc>
              <a:buNone/>
            </a:pPr>
            <a:r>
              <a:rPr lang="en-GB" sz="4400" b="1" dirty="0">
                <a:solidFill>
                  <a:srgbClr val="1A4D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Contraction Techniques</a:t>
            </a:r>
            <a:endParaRPr lang="en-GB" sz="4400" dirty="0">
              <a:solidFill>
                <a:srgbClr val="1A4D8C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46634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2000" i="1" dirty="0">
                <a:solidFill>
                  <a:srgbClr val="8B94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Four ideas we would implement in the future.</a:t>
            </a:r>
            <a:endParaRPr lang="en-GB" sz="2000" dirty="0"/>
          </a:p>
        </p:txBody>
      </p:sp>
      <p:sp>
        <p:nvSpPr>
          <p:cNvPr id="5" name="Text 3"/>
          <p:cNvSpPr/>
          <p:nvPr/>
        </p:nvSpPr>
        <p:spPr>
          <a:xfrm>
            <a:off x="0" y="6473952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GB" sz="900" dirty="0">
                <a:solidFill>
                  <a:srgbClr val="8B94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 Environments</a:t>
            </a:r>
            <a:endParaRPr lang="en-GB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GB" sz="900" dirty="0">
                <a:solidFill>
                  <a:srgbClr val="8B94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Context-Aware IoT Anomaly Detection</a:t>
            </a:r>
            <a:endParaRPr lang="en-GB" sz="900" dirty="0"/>
          </a:p>
        </p:txBody>
      </p:sp>
      <p:sp>
        <p:nvSpPr>
          <p:cNvPr id="8" name="Text 18">
            <a:extLst>
              <a:ext uri="{FF2B5EF4-FFF2-40B4-BE49-F238E27FC236}">
                <a16:creationId xmlns:a16="http://schemas.microsoft.com/office/drawing/2014/main" id="{71E1DD06-9BEB-8A38-D357-36FBC025076B}"/>
              </a:ext>
            </a:extLst>
          </p:cNvPr>
          <p:cNvSpPr/>
          <p:nvPr/>
        </p:nvSpPr>
        <p:spPr>
          <a:xfrm>
            <a:off x="9670667" y="6473952"/>
            <a:ext cx="18809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GB" sz="900" dirty="0">
                <a:solidFill>
                  <a:srgbClr val="8B949E"/>
                </a:solidFill>
                <a:latin typeface="Aptos" pitchFamily="34" charset="0"/>
              </a:rPr>
              <a:t>25</a:t>
            </a:r>
            <a:endParaRPr lang="en-GB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E2708C-39E1-49F8-5D2F-9F3941985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7EC2E43-F29D-FCEF-A309-EE178610A061}"/>
              </a:ext>
            </a:extLst>
          </p:cNvPr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200" b="1" kern="0" spc="200" noProof="1">
                <a:solidFill>
                  <a:srgbClr val="58A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 WORK · CONTRACTION TECHNIQUES</a:t>
            </a:r>
            <a:endParaRPr lang="en-GB" sz="1200" noProof="1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1A13B89-7EC7-7E52-F99C-2DEBF971DFBA}"/>
              </a:ext>
            </a:extLst>
          </p:cNvPr>
          <p:cNvSpPr/>
          <p:nvPr/>
        </p:nvSpPr>
        <p:spPr>
          <a:xfrm>
            <a:off x="640080" y="658368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3200" b="1" noProof="1">
                <a:solidFill>
                  <a:srgbClr val="1A4D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Four Future Improvements</a:t>
            </a:r>
            <a:endParaRPr lang="en-GB" sz="3200" noProof="1">
              <a:solidFill>
                <a:srgbClr val="1A4D8C"/>
              </a:solidFill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B81C233D-48E6-167C-8B67-49BB45935B12}"/>
              </a:ext>
            </a:extLst>
          </p:cNvPr>
          <p:cNvSpPr/>
          <p:nvPr/>
        </p:nvSpPr>
        <p:spPr>
          <a:xfrm>
            <a:off x="0" y="6473952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GB" sz="900" noProof="1">
                <a:solidFill>
                  <a:srgbClr val="8B94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 Environments</a:t>
            </a:r>
            <a:endParaRPr lang="en-GB" sz="900" noProof="1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5F9EA5B5-9C32-04F9-7666-8C8E0AF64AAF}"/>
              </a:ext>
            </a:extLst>
          </p:cNvPr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GB" sz="900" noProof="1">
                <a:solidFill>
                  <a:srgbClr val="8B94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Context-Aware IoT Anomaly Detection</a:t>
            </a:r>
            <a:endParaRPr lang="en-GB" sz="900" noProof="1"/>
          </a:p>
        </p:txBody>
      </p:sp>
      <p:sp>
        <p:nvSpPr>
          <p:cNvPr id="15" name="Text 18">
            <a:extLst>
              <a:ext uri="{FF2B5EF4-FFF2-40B4-BE49-F238E27FC236}">
                <a16:creationId xmlns:a16="http://schemas.microsoft.com/office/drawing/2014/main" id="{E335C619-1205-AF41-EE0C-3E0DE86BF605}"/>
              </a:ext>
            </a:extLst>
          </p:cNvPr>
          <p:cNvSpPr/>
          <p:nvPr/>
        </p:nvSpPr>
        <p:spPr>
          <a:xfrm>
            <a:off x="9670667" y="6473952"/>
            <a:ext cx="18809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GB" sz="900" noProof="1">
                <a:solidFill>
                  <a:srgbClr val="8B94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</a:t>
            </a:r>
            <a:endParaRPr lang="en-GB" sz="900" noProof="1"/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EF3FDE50-1892-BF90-DB0A-53B963011CAD}"/>
              </a:ext>
            </a:extLst>
          </p:cNvPr>
          <p:cNvSpPr/>
          <p:nvPr/>
        </p:nvSpPr>
        <p:spPr>
          <a:xfrm>
            <a:off x="640080" y="1554480"/>
            <a:ext cx="4902234" cy="2011680"/>
          </a:xfrm>
          <a:prstGeom prst="roundRect">
            <a:avLst>
              <a:gd name="adj" fmla="val 2273"/>
            </a:avLst>
          </a:prstGeom>
          <a:solidFill>
            <a:schemeClr val="bg1"/>
          </a:solidFill>
          <a:ln w="19050">
            <a:solidFill>
              <a:srgbClr val="3FB950"/>
            </a:solidFill>
            <a:prstDash val="solid"/>
          </a:ln>
        </p:spPr>
        <p:txBody>
          <a:bodyPr anchor="ctr"/>
          <a:lstStyle/>
          <a:p>
            <a:pPr>
              <a:lnSpc>
                <a:spcPct val="110000"/>
              </a:lnSpc>
            </a:pPr>
            <a:r>
              <a:rPr lang="en-GB" sz="2400" b="1" noProof="1">
                <a:solidFill>
                  <a:srgbClr val="3FB950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Topological Contraction</a:t>
            </a:r>
            <a:endParaRPr lang="en-GB" sz="2400" noProof="1">
              <a:latin typeface="Aptos" panose="020B0004020202020204" pitchFamily="34" charset="0"/>
            </a:endParaRPr>
          </a:p>
          <a:p>
            <a:pPr>
              <a:lnSpc>
                <a:spcPct val="110000"/>
              </a:lnSpc>
            </a:pPr>
            <a:br>
              <a:rPr lang="en-GB" sz="2000" noProof="1">
                <a:solidFill>
                  <a:srgbClr val="F0F6FF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</a:br>
            <a:r>
              <a:rPr lang="en-GB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Merge identical devices into super-nodes to shrink the graph and make anomalies more visible.</a:t>
            </a:r>
            <a:endParaRPr lang="en-GB" sz="2000" noProof="1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4" name="Shape 6">
            <a:extLst>
              <a:ext uri="{FF2B5EF4-FFF2-40B4-BE49-F238E27FC236}">
                <a16:creationId xmlns:a16="http://schemas.microsoft.com/office/drawing/2014/main" id="{B451647E-526A-128B-31A8-DFEF567CFA97}"/>
              </a:ext>
            </a:extLst>
          </p:cNvPr>
          <p:cNvSpPr/>
          <p:nvPr/>
        </p:nvSpPr>
        <p:spPr>
          <a:xfrm>
            <a:off x="640080" y="3945636"/>
            <a:ext cx="4902234" cy="2011680"/>
          </a:xfrm>
          <a:prstGeom prst="roundRect">
            <a:avLst>
              <a:gd name="adj" fmla="val 2273"/>
            </a:avLst>
          </a:prstGeom>
          <a:solidFill>
            <a:schemeClr val="bg1"/>
          </a:solidFill>
          <a:ln w="19050">
            <a:solidFill>
              <a:srgbClr val="58A6FF"/>
            </a:solidFill>
            <a:prstDash val="solid"/>
          </a:ln>
        </p:spPr>
        <p:txBody>
          <a:bodyPr anchor="ctr"/>
          <a:lstStyle/>
          <a:p>
            <a:pPr>
              <a:lnSpc>
                <a:spcPct val="110000"/>
              </a:lnSpc>
            </a:pPr>
            <a:r>
              <a:rPr lang="en-GB" sz="2400" b="1" noProof="1">
                <a:solidFill>
                  <a:srgbClr val="58A6FF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Feature-Space Contraction (PCA)</a:t>
            </a:r>
            <a:endParaRPr lang="en-GB" sz="2400" noProof="1">
              <a:latin typeface="Aptos" panose="020B0004020202020204" pitchFamily="34" charset="0"/>
            </a:endParaRPr>
          </a:p>
          <a:p>
            <a:pPr>
              <a:lnSpc>
                <a:spcPct val="110000"/>
              </a:lnSpc>
            </a:pPr>
            <a:endParaRPr lang="en-GB" sz="2000" noProof="1">
              <a:solidFill>
                <a:srgbClr val="6B7280"/>
              </a:solidFill>
              <a:latin typeface="Aptos" panose="020B0004020202020204" pitchFamily="34" charset="0"/>
            </a:endParaRPr>
          </a:p>
          <a:p>
            <a:r>
              <a:rPr lang="en-GB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Compress node/edge features into 3–5 components to speed up the GNN and remove noise.</a:t>
            </a:r>
          </a:p>
        </p:txBody>
      </p:sp>
      <p:sp>
        <p:nvSpPr>
          <p:cNvPr id="16" name="Shape 6">
            <a:extLst>
              <a:ext uri="{FF2B5EF4-FFF2-40B4-BE49-F238E27FC236}">
                <a16:creationId xmlns:a16="http://schemas.microsoft.com/office/drawing/2014/main" id="{3A1743D9-A71B-A3F4-CB50-13A97608223A}"/>
              </a:ext>
            </a:extLst>
          </p:cNvPr>
          <p:cNvSpPr/>
          <p:nvPr/>
        </p:nvSpPr>
        <p:spPr>
          <a:xfrm>
            <a:off x="6108607" y="1554480"/>
            <a:ext cx="4902234" cy="2011680"/>
          </a:xfrm>
          <a:prstGeom prst="roundRect">
            <a:avLst>
              <a:gd name="adj" fmla="val 2273"/>
            </a:avLst>
          </a:prstGeom>
          <a:solidFill>
            <a:schemeClr val="bg1"/>
          </a:solidFill>
          <a:ln w="19050">
            <a:solidFill>
              <a:srgbClr val="A371F7"/>
            </a:solidFill>
            <a:prstDash val="solid"/>
          </a:ln>
        </p:spPr>
        <p:txBody>
          <a:bodyPr anchor="ctr"/>
          <a:lstStyle/>
          <a:p>
            <a:pPr>
              <a:lnSpc>
                <a:spcPct val="110000"/>
              </a:lnSpc>
            </a:pPr>
            <a:r>
              <a:rPr lang="en-GB" sz="2400" b="1" noProof="1">
                <a:solidFill>
                  <a:srgbClr val="A371F7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Edge Sparsification</a:t>
            </a:r>
            <a:endParaRPr lang="en-GB" sz="2400" noProof="1">
              <a:latin typeface="Aptos" panose="020B0004020202020204" pitchFamily="34" charset="0"/>
            </a:endParaRPr>
          </a:p>
          <a:p>
            <a:br>
              <a:rPr lang="en-GB" sz="2000" noProof="1">
                <a:solidFill>
                  <a:srgbClr val="F0F6FF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</a:br>
            <a:r>
              <a:rPr lang="en-GB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Drop low-volume edges to reduce noise and strengthen LPA community detection.</a:t>
            </a:r>
          </a:p>
          <a:p>
            <a:pPr>
              <a:lnSpc>
                <a:spcPct val="110000"/>
              </a:lnSpc>
            </a:pPr>
            <a:endParaRPr lang="en-GB" sz="200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7" name="Shape 6">
            <a:extLst>
              <a:ext uri="{FF2B5EF4-FFF2-40B4-BE49-F238E27FC236}">
                <a16:creationId xmlns:a16="http://schemas.microsoft.com/office/drawing/2014/main" id="{F5B7109D-0C61-39C1-3510-846B083EE9F1}"/>
              </a:ext>
            </a:extLst>
          </p:cNvPr>
          <p:cNvSpPr/>
          <p:nvPr/>
        </p:nvSpPr>
        <p:spPr>
          <a:xfrm>
            <a:off x="6088872" y="3945636"/>
            <a:ext cx="4902234" cy="2011680"/>
          </a:xfrm>
          <a:prstGeom prst="roundRect">
            <a:avLst>
              <a:gd name="adj" fmla="val 2273"/>
            </a:avLst>
          </a:prstGeom>
          <a:solidFill>
            <a:schemeClr val="bg1"/>
          </a:solidFill>
          <a:ln w="19050">
            <a:solidFill>
              <a:srgbClr val="F0883E"/>
            </a:solidFill>
            <a:prstDash val="solid"/>
          </a:ln>
        </p:spPr>
        <p:txBody>
          <a:bodyPr anchor="ctr"/>
          <a:lstStyle/>
          <a:p>
            <a:pPr>
              <a:lnSpc>
                <a:spcPct val="110000"/>
              </a:lnSpc>
            </a:pPr>
            <a:r>
              <a:rPr lang="en-GB" sz="2400" b="1" noProof="1">
                <a:solidFill>
                  <a:srgbClr val="F0883E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Dynamic Temporal Windows</a:t>
            </a:r>
            <a:endParaRPr lang="en-GB" sz="2400" noProof="1">
              <a:latin typeface="Aptos" panose="020B0004020202020204" pitchFamily="34" charset="0"/>
            </a:endParaRPr>
          </a:p>
          <a:p>
            <a:pPr>
              <a:lnSpc>
                <a:spcPct val="110000"/>
              </a:lnSpc>
            </a:pPr>
            <a:br>
              <a:rPr lang="en-GB" sz="2000" noProof="1">
                <a:solidFill>
                  <a:srgbClr val="F0F6FF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</a:br>
            <a:r>
              <a:rPr lang="en-GB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Trigger new graph snapshots only on significant network changes, saving compute cycles.</a:t>
            </a:r>
            <a:endParaRPr lang="en-GB" sz="2000" noProof="1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56776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200" b="1" kern="0" spc="200" dirty="0">
                <a:solidFill>
                  <a:srgbClr val="58A6FF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WHERE THIS PROJECT COULD GO NEXT</a:t>
            </a:r>
            <a:endParaRPr lang="en-GB" sz="1200" dirty="0">
              <a:latin typeface="Aptos" panose="020B00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3200" b="1" dirty="0">
                <a:solidFill>
                  <a:srgbClr val="1A4D8C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Future Work: Beyond Contraction</a:t>
            </a:r>
            <a:endParaRPr lang="en-GB" sz="3200" dirty="0">
              <a:solidFill>
                <a:srgbClr val="1A4D8C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0" y="6473952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GB" sz="900" dirty="0">
                <a:solidFill>
                  <a:srgbClr val="8B949E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Smart Environments</a:t>
            </a:r>
            <a:endParaRPr lang="en-GB" sz="900" dirty="0">
              <a:latin typeface="Aptos" panose="020B00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GB" sz="900" dirty="0">
                <a:solidFill>
                  <a:srgbClr val="8B949E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Context-Aware IoT Anomaly Detection</a:t>
            </a:r>
            <a:endParaRPr lang="en-GB" sz="900" dirty="0">
              <a:latin typeface="Aptos" panose="020B0004020202020204" pitchFamily="34" charset="0"/>
            </a:endParaRPr>
          </a:p>
        </p:txBody>
      </p:sp>
      <p:sp>
        <p:nvSpPr>
          <p:cNvPr id="9" name="Text 18">
            <a:extLst>
              <a:ext uri="{FF2B5EF4-FFF2-40B4-BE49-F238E27FC236}">
                <a16:creationId xmlns:a16="http://schemas.microsoft.com/office/drawing/2014/main" id="{6B420C3C-D6AF-40DE-F0F0-F98888473348}"/>
              </a:ext>
            </a:extLst>
          </p:cNvPr>
          <p:cNvSpPr/>
          <p:nvPr/>
        </p:nvSpPr>
        <p:spPr>
          <a:xfrm>
            <a:off x="9670667" y="6473952"/>
            <a:ext cx="18809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GB" sz="900" dirty="0">
                <a:solidFill>
                  <a:srgbClr val="8B949E"/>
                </a:solidFill>
                <a:latin typeface="Aptos" pitchFamily="34" charset="0"/>
              </a:rPr>
              <a:t>27</a:t>
            </a:r>
            <a:endParaRPr lang="en-GB" sz="900" dirty="0"/>
          </a:p>
        </p:txBody>
      </p:sp>
      <p:sp>
        <p:nvSpPr>
          <p:cNvPr id="10" name="Rettangolo con angoli arrotondati 9">
            <a:extLst>
              <a:ext uri="{FF2B5EF4-FFF2-40B4-BE49-F238E27FC236}">
                <a16:creationId xmlns:a16="http://schemas.microsoft.com/office/drawing/2014/main" id="{97D84474-29E5-2A07-C951-EF0B01F77BD3}"/>
              </a:ext>
            </a:extLst>
          </p:cNvPr>
          <p:cNvSpPr/>
          <p:nvPr/>
        </p:nvSpPr>
        <p:spPr>
          <a:xfrm>
            <a:off x="576039" y="1563200"/>
            <a:ext cx="4267200" cy="1442520"/>
          </a:xfrm>
          <a:prstGeom prst="roundRect">
            <a:avLst>
              <a:gd name="adj" fmla="val 6777"/>
            </a:avLst>
          </a:prstGeom>
          <a:solidFill>
            <a:schemeClr val="bg1"/>
          </a:solidFill>
          <a:ln>
            <a:solidFill>
              <a:srgbClr val="08AB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Full training</a:t>
            </a:r>
          </a:p>
          <a:p>
            <a:pPr algn="ctr"/>
            <a:r>
              <a:rPr lang="en-GB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50–70 epochs on adequate hardware, with k-fold cross-validation.</a:t>
            </a:r>
            <a:endParaRPr lang="en-GB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1" name="Rettangolo con angoli arrotondati 10">
            <a:extLst>
              <a:ext uri="{FF2B5EF4-FFF2-40B4-BE49-F238E27FC236}">
                <a16:creationId xmlns:a16="http://schemas.microsoft.com/office/drawing/2014/main" id="{4D9F0C24-673E-74CA-697E-50FB55C6114F}"/>
              </a:ext>
            </a:extLst>
          </p:cNvPr>
          <p:cNvSpPr/>
          <p:nvPr/>
        </p:nvSpPr>
        <p:spPr>
          <a:xfrm>
            <a:off x="5385106" y="1563200"/>
            <a:ext cx="4267200" cy="1442520"/>
          </a:xfrm>
          <a:prstGeom prst="roundRect">
            <a:avLst>
              <a:gd name="adj" fmla="val 6777"/>
            </a:avLst>
          </a:prstGeom>
          <a:solidFill>
            <a:schemeClr val="bg1"/>
          </a:solidFill>
          <a:ln>
            <a:solidFill>
              <a:srgbClr val="EF817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Generalization</a:t>
            </a:r>
          </a:p>
          <a:p>
            <a:pPr algn="ctr"/>
            <a:r>
              <a:rPr lang="en-GB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Evaluate on CIC-IDS2017 and other IoT datasets.</a:t>
            </a:r>
            <a:endParaRPr lang="it-IT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2" name="Rettangolo con angoli arrotondati 11">
            <a:extLst>
              <a:ext uri="{FF2B5EF4-FFF2-40B4-BE49-F238E27FC236}">
                <a16:creationId xmlns:a16="http://schemas.microsoft.com/office/drawing/2014/main" id="{6BBCB531-1C61-7057-A50F-C1B9FECD7799}"/>
              </a:ext>
            </a:extLst>
          </p:cNvPr>
          <p:cNvSpPr/>
          <p:nvPr/>
        </p:nvSpPr>
        <p:spPr>
          <a:xfrm>
            <a:off x="576039" y="3145604"/>
            <a:ext cx="4267200" cy="1442520"/>
          </a:xfrm>
          <a:prstGeom prst="roundRect">
            <a:avLst>
              <a:gd name="adj" fmla="val 6777"/>
            </a:avLst>
          </a:prstGeom>
          <a:solidFill>
            <a:schemeClr val="bg1"/>
          </a:solidFill>
          <a:ln>
            <a:solidFill>
              <a:srgbClr val="F7B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Dashboard</a:t>
            </a:r>
          </a:p>
          <a:p>
            <a:pPr algn="ctr"/>
            <a:r>
              <a:rPr lang="en-GB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Evolve the analysis tool toward production real-time monitoring.</a:t>
            </a:r>
            <a:endParaRPr lang="en-GB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3" name="Rettangolo con angoli arrotondati 12">
            <a:extLst>
              <a:ext uri="{FF2B5EF4-FFF2-40B4-BE49-F238E27FC236}">
                <a16:creationId xmlns:a16="http://schemas.microsoft.com/office/drawing/2014/main" id="{5636131C-FD7F-B28A-4B3A-3C4CF8C12DA4}"/>
              </a:ext>
            </a:extLst>
          </p:cNvPr>
          <p:cNvSpPr/>
          <p:nvPr/>
        </p:nvSpPr>
        <p:spPr>
          <a:xfrm>
            <a:off x="5385106" y="3145604"/>
            <a:ext cx="4267200" cy="1442520"/>
          </a:xfrm>
          <a:prstGeom prst="roundRect">
            <a:avLst>
              <a:gd name="adj" fmla="val 6777"/>
            </a:avLst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Community detection</a:t>
            </a:r>
          </a:p>
          <a:p>
            <a:pPr algn="ctr"/>
            <a:r>
              <a:rPr lang="en-GB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Integrate Louvain offline alongside real-time LPA for more stable communities.</a:t>
            </a:r>
            <a:endParaRPr lang="en-GB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4" name="Rettangolo con angoli arrotondati 13">
            <a:extLst>
              <a:ext uri="{FF2B5EF4-FFF2-40B4-BE49-F238E27FC236}">
                <a16:creationId xmlns:a16="http://schemas.microsoft.com/office/drawing/2014/main" id="{BBF3D110-0CC4-1952-5B8B-6B9E27CDD4D0}"/>
              </a:ext>
            </a:extLst>
          </p:cNvPr>
          <p:cNvSpPr/>
          <p:nvPr/>
        </p:nvSpPr>
        <p:spPr>
          <a:xfrm>
            <a:off x="576344" y="4728008"/>
            <a:ext cx="9075961" cy="1232314"/>
          </a:xfrm>
          <a:prstGeom prst="roundRect">
            <a:avLst>
              <a:gd name="adj" fmla="val 6777"/>
            </a:avLst>
          </a:prstGeom>
          <a:solidFill>
            <a:schemeClr val="bg1"/>
          </a:solidFill>
          <a:ln>
            <a:solidFill>
              <a:srgbClr val="276B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Efficiency: one unified preprocessing layer</a:t>
            </a:r>
          </a:p>
          <a:p>
            <a:pPr algn="ctr"/>
            <a:r>
              <a:rPr lang="en-GB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Combine the four contraction techniques into one lightweight preprocessing layer.</a:t>
            </a:r>
            <a:endParaRPr lang="it-IT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  <a:ea typeface="Aptos" pitchFamily="34" charset="-122"/>
              <a:cs typeface="Aptos" pitchFamily="34" charset="-12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61171" y="6089719"/>
            <a:ext cx="65902" cy="65902"/>
          </a:xfrm>
          <a:prstGeom prst="ellipse">
            <a:avLst/>
          </a:prstGeom>
          <a:solidFill>
            <a:srgbClr val="3FB950">
              <a:alpha val="55000"/>
            </a:srgbClr>
          </a:solidFill>
          <a:ln/>
        </p:spPr>
        <p:txBody>
          <a:bodyPr/>
          <a:lstStyle/>
          <a:p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8074805" y="6690501"/>
            <a:ext cx="44409" cy="44409"/>
          </a:xfrm>
          <a:prstGeom prst="ellipse">
            <a:avLst/>
          </a:prstGeom>
          <a:solidFill>
            <a:srgbClr val="58A6FF">
              <a:alpha val="55000"/>
            </a:srgbClr>
          </a:solidFill>
          <a:ln/>
        </p:spPr>
        <p:txBody>
          <a:bodyPr/>
          <a:lstStyle/>
          <a:p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897499" y="6515987"/>
            <a:ext cx="34550" cy="34550"/>
          </a:xfrm>
          <a:prstGeom prst="ellipse">
            <a:avLst/>
          </a:prstGeom>
          <a:solidFill>
            <a:srgbClr val="58A6FF">
              <a:alpha val="55000"/>
            </a:srgbClr>
          </a:solidFill>
          <a:ln/>
        </p:spPr>
        <p:txBody>
          <a:bodyPr/>
          <a:lstStyle/>
          <a:p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42942" y="6766221"/>
            <a:ext cx="49388" cy="49388"/>
          </a:xfrm>
          <a:prstGeom prst="ellipse">
            <a:avLst/>
          </a:prstGeom>
          <a:solidFill>
            <a:srgbClr val="3FB950">
              <a:alpha val="55000"/>
            </a:srgbClr>
          </a:solidFill>
          <a:ln/>
        </p:spPr>
        <p:txBody>
          <a:bodyPr/>
          <a:lstStyle/>
          <a:p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812589" y="5270832"/>
            <a:ext cx="45743" cy="45743"/>
          </a:xfrm>
          <a:prstGeom prst="ellipse">
            <a:avLst/>
          </a:prstGeom>
          <a:solidFill>
            <a:srgbClr val="58A6FF">
              <a:alpha val="55000"/>
            </a:srgbClr>
          </a:solidFill>
          <a:ln/>
        </p:spPr>
        <p:txBody>
          <a:bodyPr/>
          <a:lstStyle/>
          <a:p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308529" y="5958613"/>
            <a:ext cx="42628" cy="42628"/>
          </a:xfrm>
          <a:prstGeom prst="ellipse">
            <a:avLst/>
          </a:prstGeom>
          <a:solidFill>
            <a:srgbClr val="58A6FF">
              <a:alpha val="55000"/>
            </a:srgbClr>
          </a:solidFill>
          <a:ln/>
        </p:spPr>
        <p:txBody>
          <a:bodyPr/>
          <a:lstStyle/>
          <a:p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848361" y="6474616"/>
            <a:ext cx="53445" cy="53445"/>
          </a:xfrm>
          <a:prstGeom prst="ellipse">
            <a:avLst/>
          </a:prstGeom>
          <a:solidFill>
            <a:srgbClr val="3FB950">
              <a:alpha val="55000"/>
            </a:srgbClr>
          </a:solidFill>
          <a:ln/>
        </p:spPr>
        <p:txBody>
          <a:bodyPr/>
          <a:lstStyle/>
          <a:p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182567" y="6048054"/>
            <a:ext cx="33244" cy="33244"/>
          </a:xfrm>
          <a:prstGeom prst="ellipse">
            <a:avLst/>
          </a:prstGeom>
          <a:solidFill>
            <a:srgbClr val="58A6FF">
              <a:alpha val="55000"/>
            </a:srgbClr>
          </a:solidFill>
          <a:ln/>
        </p:spPr>
        <p:txBody>
          <a:bodyPr/>
          <a:lstStyle/>
          <a:p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349322" y="5390997"/>
            <a:ext cx="52153" cy="52153"/>
          </a:xfrm>
          <a:prstGeom prst="ellipse">
            <a:avLst/>
          </a:prstGeom>
          <a:solidFill>
            <a:srgbClr val="58A6FF">
              <a:alpha val="55000"/>
            </a:srgbClr>
          </a:solidFill>
          <a:ln/>
        </p:spPr>
        <p:txBody>
          <a:bodyPr/>
          <a:lstStyle/>
          <a:p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860310" y="6372959"/>
            <a:ext cx="60022" cy="60022"/>
          </a:xfrm>
          <a:prstGeom prst="ellipse">
            <a:avLst/>
          </a:prstGeom>
          <a:solidFill>
            <a:srgbClr val="3FB950">
              <a:alpha val="55000"/>
            </a:srgbClr>
          </a:solidFill>
          <a:ln/>
        </p:spPr>
        <p:txBody>
          <a:bodyPr/>
          <a:lstStyle/>
          <a:p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760083" y="6342091"/>
            <a:ext cx="47080" cy="47080"/>
          </a:xfrm>
          <a:prstGeom prst="ellipse">
            <a:avLst/>
          </a:prstGeom>
          <a:solidFill>
            <a:srgbClr val="58A6FF">
              <a:alpha val="55000"/>
            </a:srgbClr>
          </a:solidFill>
          <a:ln/>
        </p:spPr>
        <p:txBody>
          <a:bodyPr/>
          <a:lstStyle/>
          <a:p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251386" y="5924004"/>
            <a:ext cx="66954" cy="66954"/>
          </a:xfrm>
          <a:prstGeom prst="ellipse">
            <a:avLst/>
          </a:prstGeom>
          <a:solidFill>
            <a:srgbClr val="58A6FF">
              <a:alpha val="55000"/>
            </a:srgbClr>
          </a:solidFill>
          <a:ln/>
        </p:spPr>
        <p:txBody>
          <a:bodyPr/>
          <a:lstStyle/>
          <a:p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610798" y="6364074"/>
            <a:ext cx="50349" cy="50349"/>
          </a:xfrm>
          <a:prstGeom prst="ellipse">
            <a:avLst/>
          </a:prstGeom>
          <a:solidFill>
            <a:srgbClr val="3FB950">
              <a:alpha val="55000"/>
            </a:srgbClr>
          </a:solidFill>
          <a:ln/>
        </p:spPr>
        <p:txBody>
          <a:bodyPr/>
          <a:lstStyle/>
          <a:p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324549" y="5797876"/>
            <a:ext cx="67238" cy="67238"/>
          </a:xfrm>
          <a:prstGeom prst="ellipse">
            <a:avLst/>
          </a:prstGeom>
          <a:solidFill>
            <a:srgbClr val="58A6FF">
              <a:alpha val="55000"/>
            </a:srgbClr>
          </a:solidFill>
          <a:ln/>
        </p:spPr>
        <p:txBody>
          <a:bodyPr/>
          <a:lstStyle/>
          <a:p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81525" y="5255080"/>
            <a:ext cx="33864" cy="33864"/>
          </a:xfrm>
          <a:prstGeom prst="ellipse">
            <a:avLst/>
          </a:prstGeom>
          <a:solidFill>
            <a:srgbClr val="58A6FF">
              <a:alpha val="55000"/>
            </a:srgbClr>
          </a:solidFill>
          <a:ln/>
        </p:spPr>
        <p:txBody>
          <a:bodyPr/>
          <a:lstStyle/>
          <a:p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1041554" y="6059895"/>
            <a:ext cx="31575" cy="31575"/>
          </a:xfrm>
          <a:prstGeom prst="ellipse">
            <a:avLst/>
          </a:prstGeom>
          <a:solidFill>
            <a:srgbClr val="3FB950">
              <a:alpha val="55000"/>
            </a:srgbClr>
          </a:solidFill>
          <a:ln/>
        </p:spPr>
        <p:txBody>
          <a:bodyPr/>
          <a:lstStyle/>
          <a:p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1859874" y="6173540"/>
            <a:ext cx="52952" cy="52952"/>
          </a:xfrm>
          <a:prstGeom prst="ellipse">
            <a:avLst/>
          </a:prstGeom>
          <a:solidFill>
            <a:srgbClr val="58A6FF">
              <a:alpha val="55000"/>
            </a:srgbClr>
          </a:solidFill>
          <a:ln/>
        </p:spPr>
        <p:txBody>
          <a:bodyPr/>
          <a:lstStyle/>
          <a:p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771787" y="5355221"/>
            <a:ext cx="40192" cy="40192"/>
          </a:xfrm>
          <a:prstGeom prst="ellipse">
            <a:avLst/>
          </a:prstGeom>
          <a:solidFill>
            <a:srgbClr val="58A6FF">
              <a:alpha val="55000"/>
            </a:srgbClr>
          </a:solidFill>
          <a:ln/>
        </p:spPr>
        <p:txBody>
          <a:bodyPr/>
          <a:lstStyle/>
          <a:p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11193809" y="5702288"/>
            <a:ext cx="69669" cy="69669"/>
          </a:xfrm>
          <a:prstGeom prst="ellipse">
            <a:avLst/>
          </a:prstGeom>
          <a:solidFill>
            <a:srgbClr val="3FB950">
              <a:alpha val="55000"/>
            </a:srgbClr>
          </a:solidFill>
          <a:ln/>
        </p:spPr>
        <p:txBody>
          <a:bodyPr/>
          <a:lstStyle/>
          <a:p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1374966" y="6739108"/>
            <a:ext cx="50155" cy="50155"/>
          </a:xfrm>
          <a:prstGeom prst="ellipse">
            <a:avLst/>
          </a:prstGeom>
          <a:solidFill>
            <a:srgbClr val="58A6FF">
              <a:alpha val="55000"/>
            </a:srgbClr>
          </a:solidFill>
          <a:ln/>
        </p:spPr>
        <p:txBody>
          <a:bodyPr/>
          <a:lstStyle/>
          <a:p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2436001" y="5511538"/>
            <a:ext cx="54614" cy="54614"/>
          </a:xfrm>
          <a:prstGeom prst="ellipse">
            <a:avLst/>
          </a:prstGeom>
          <a:solidFill>
            <a:srgbClr val="58A6FF">
              <a:alpha val="55000"/>
            </a:srgbClr>
          </a:solidFill>
          <a:ln/>
        </p:spPr>
        <p:txBody>
          <a:bodyPr/>
          <a:lstStyle/>
          <a:p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2565760" y="5736849"/>
            <a:ext cx="53120" cy="53120"/>
          </a:xfrm>
          <a:prstGeom prst="ellipse">
            <a:avLst/>
          </a:prstGeom>
          <a:solidFill>
            <a:srgbClr val="3FB950">
              <a:alpha val="55000"/>
            </a:srgbClr>
          </a:solidFill>
          <a:ln/>
        </p:spPr>
        <p:txBody>
          <a:bodyPr/>
          <a:lstStyle/>
          <a:p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0" y="1828800"/>
            <a:ext cx="121916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sz="5600" b="1" dirty="0">
                <a:solidFill>
                  <a:srgbClr val="1F2937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Thank You</a:t>
            </a:r>
            <a:endParaRPr lang="en-GB" sz="5600" dirty="0">
              <a:solidFill>
                <a:srgbClr val="1F2937"/>
              </a:solidFill>
              <a:latin typeface="Aptos" panose="020B00040202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0" y="292608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sz="2200" dirty="0">
                <a:solidFill>
                  <a:srgbClr val="1F2937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Questions &amp; Discussion</a:t>
            </a:r>
            <a:endParaRPr lang="en-GB" sz="2200" dirty="0">
              <a:solidFill>
                <a:srgbClr val="1F2937"/>
              </a:solidFill>
              <a:latin typeface="Aptos" panose="020B000402020202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0" y="393192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sz="1600" dirty="0">
                <a:solidFill>
                  <a:srgbClr val="1F2937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Antonio Pagnotta   ·   Francesco La Piana   ·   Paolo </a:t>
            </a:r>
            <a:r>
              <a:rPr lang="en-GB" sz="1600" dirty="0" err="1">
                <a:solidFill>
                  <a:srgbClr val="1F2937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Cencia</a:t>
            </a:r>
            <a:endParaRPr lang="en-GB" sz="1600" dirty="0">
              <a:solidFill>
                <a:srgbClr val="1F2937"/>
              </a:solidFill>
              <a:latin typeface="Aptos" panose="020B00040202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0" y="452628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GB" sz="1300" b="1" dirty="0">
                <a:solidFill>
                  <a:srgbClr val="1F2937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Paper</a:t>
            </a:r>
            <a:r>
              <a:rPr lang="en-GB" sz="1300" dirty="0">
                <a:solidFill>
                  <a:srgbClr val="1F2937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: </a:t>
            </a:r>
            <a:r>
              <a:rPr lang="en-GB" sz="1300" dirty="0">
                <a:solidFill>
                  <a:srgbClr val="1F2937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  <a:hlinkClick r:id="rId3"/>
              </a:rPr>
              <a:t>https://www.sciencedirect.com/science/article/abs/pii/S0140366426000046</a:t>
            </a:r>
            <a:r>
              <a:rPr lang="en-GB" sz="1300" dirty="0">
                <a:solidFill>
                  <a:srgbClr val="1F2937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 </a:t>
            </a:r>
            <a:endParaRPr lang="en-GB" sz="1300" dirty="0">
              <a:solidFill>
                <a:srgbClr val="1F2937"/>
              </a:solidFill>
              <a:latin typeface="Aptos" panose="020B0004020202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0" y="489204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GB" sz="1300" b="1" dirty="0">
                <a:solidFill>
                  <a:srgbClr val="1F2937"/>
                </a:solidFill>
                <a:latin typeface="Aptos" panose="020B0004020202020204" pitchFamily="34" charset="0"/>
                <a:ea typeface="Aptos Mono" pitchFamily="34" charset="-122"/>
                <a:cs typeface="Aptos Mono" pitchFamily="34" charset="-120"/>
              </a:rPr>
              <a:t>Repo</a:t>
            </a:r>
            <a:r>
              <a:rPr lang="en-GB" sz="1300" dirty="0">
                <a:solidFill>
                  <a:srgbClr val="1F2937"/>
                </a:solidFill>
                <a:latin typeface="Aptos" panose="020B0004020202020204" pitchFamily="34" charset="0"/>
                <a:ea typeface="Aptos Mono" pitchFamily="34" charset="-122"/>
                <a:cs typeface="Aptos Mono" pitchFamily="34" charset="-120"/>
              </a:rPr>
              <a:t>:  </a:t>
            </a:r>
            <a:r>
              <a:rPr lang="en-GB" sz="1300" dirty="0">
                <a:solidFill>
                  <a:srgbClr val="1F2937"/>
                </a:solidFill>
                <a:latin typeface="Aptos" panose="020B0004020202020204" pitchFamily="34" charset="0"/>
                <a:ea typeface="Aptos Mono" pitchFamily="34" charset="-122"/>
                <a:cs typeface="Aptos Mono" pitchFamily="34" charset="-120"/>
                <a:hlinkClick r:id="rId4"/>
              </a:rPr>
              <a:t>https://github.com/francescolp23/iot-graph-ablation-project</a:t>
            </a:r>
            <a:r>
              <a:rPr lang="en-GB" sz="1300" dirty="0">
                <a:solidFill>
                  <a:srgbClr val="1F2937"/>
                </a:solidFill>
                <a:latin typeface="Aptos" panose="020B0004020202020204" pitchFamily="34" charset="0"/>
                <a:ea typeface="Aptos Mono" pitchFamily="34" charset="-122"/>
                <a:cs typeface="Aptos Mono" pitchFamily="34" charset="-120"/>
              </a:rPr>
              <a:t> </a:t>
            </a:r>
            <a:endParaRPr lang="en-GB" sz="1300" dirty="0">
              <a:solidFill>
                <a:srgbClr val="1F2937"/>
              </a:solidFill>
              <a:latin typeface="Aptos" panose="020B0004020202020204" pitchFamily="34" charset="0"/>
            </a:endParaRPr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5C599D86-97CA-10B5-E9B1-1CD5A6404409}"/>
              </a:ext>
            </a:extLst>
          </p:cNvPr>
          <p:cNvSpPr/>
          <p:nvPr/>
        </p:nvSpPr>
        <p:spPr>
          <a:xfrm>
            <a:off x="305" y="5229505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GB" sz="1300" b="1" dirty="0">
                <a:solidFill>
                  <a:srgbClr val="1F2937"/>
                </a:solidFill>
                <a:latin typeface="Aptos" panose="020B0004020202020204" pitchFamily="34" charset="0"/>
                <a:ea typeface="Aptos Mono" pitchFamily="34" charset="-122"/>
                <a:cs typeface="Aptos Mono" pitchFamily="34" charset="-120"/>
              </a:rPr>
              <a:t>Code</a:t>
            </a:r>
            <a:r>
              <a:rPr lang="en-GB" sz="1300" dirty="0">
                <a:solidFill>
                  <a:srgbClr val="1F2937"/>
                </a:solidFill>
                <a:latin typeface="Aptos" panose="020B0004020202020204" pitchFamily="34" charset="0"/>
                <a:ea typeface="Aptos Mono" pitchFamily="34" charset="-122"/>
                <a:cs typeface="Aptos Mono" pitchFamily="34" charset="-120"/>
              </a:rPr>
              <a:t>:  </a:t>
            </a:r>
            <a:r>
              <a:rPr lang="en-GB" sz="1300" dirty="0">
                <a:solidFill>
                  <a:srgbClr val="1F2937"/>
                </a:solidFill>
                <a:latin typeface="Aptos" panose="020B0004020202020204" pitchFamily="34" charset="0"/>
                <a:ea typeface="Aptos Mono" pitchFamily="34" charset="-122"/>
                <a:cs typeface="Aptos Mono" pitchFamily="34" charset="-120"/>
                <a:hlinkClick r:id="rId5"/>
              </a:rPr>
              <a:t>https://github.com/AntonioPagnotta/iot-graph-construction-ablation</a:t>
            </a:r>
            <a:r>
              <a:rPr lang="en-GB" sz="1300" dirty="0">
                <a:solidFill>
                  <a:srgbClr val="1F2937"/>
                </a:solidFill>
                <a:latin typeface="Aptos" panose="020B0004020202020204" pitchFamily="34" charset="0"/>
                <a:ea typeface="Aptos Mono" pitchFamily="34" charset="-122"/>
                <a:cs typeface="Aptos Mono" pitchFamily="34" charset="-120"/>
              </a:rPr>
              <a:t> </a:t>
            </a:r>
            <a:endParaRPr lang="en-GB" sz="1300" dirty="0">
              <a:solidFill>
                <a:srgbClr val="1F2937"/>
              </a:solidFill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1120</TotalTime>
  <Words>1919</Words>
  <Application>Microsoft Macintosh PowerPoint</Application>
  <PresentationFormat>Widescreen</PresentationFormat>
  <Paragraphs>384</Paragraphs>
  <Slides>28</Slides>
  <Notes>26</Notes>
  <HiddenSlides>0</HiddenSlides>
  <MMClips>2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28</vt:i4>
      </vt:variant>
    </vt:vector>
  </HeadingPairs>
  <TitlesOfParts>
    <vt:vector size="33" baseType="lpstr">
      <vt:lpstr>Aptos</vt:lpstr>
      <vt:lpstr>Arial</vt:lpstr>
      <vt:lpstr>Calibri</vt:lpstr>
      <vt:lpstr>Calibri Light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Context-Aware IoT Anomaly Detection</dc:title>
  <dc:subject>PptxGenJS Presentation</dc:subject>
  <dc:creator>Pagnotta · La Piana · Cencia</dc:creator>
  <cp:lastModifiedBy>Francesco La Piana</cp:lastModifiedBy>
  <cp:revision>29</cp:revision>
  <dcterms:created xsi:type="dcterms:W3CDTF">2026-05-31T19:17:30Z</dcterms:created>
  <dcterms:modified xsi:type="dcterms:W3CDTF">2026-06-03T17:45:49Z</dcterms:modified>
</cp:coreProperties>
</file>